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5"/>
  </p:notesMasterIdLst>
  <p:handoutMasterIdLst>
    <p:handoutMasterId r:id="rId16"/>
  </p:handoutMasterIdLst>
  <p:sldIdLst>
    <p:sldId id="410" r:id="rId5"/>
    <p:sldId id="391" r:id="rId6"/>
    <p:sldId id="408" r:id="rId7"/>
    <p:sldId id="407" r:id="rId8"/>
    <p:sldId id="405" r:id="rId9"/>
    <p:sldId id="406" r:id="rId10"/>
    <p:sldId id="404" r:id="rId11"/>
    <p:sldId id="411" r:id="rId12"/>
    <p:sldId id="403" r:id="rId13"/>
    <p:sldId id="39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86909" autoAdjust="0"/>
  </p:normalViewPr>
  <p:slideViewPr>
    <p:cSldViewPr snapToGrid="0">
      <p:cViewPr varScale="1">
        <p:scale>
          <a:sx n="54" d="100"/>
          <a:sy n="54" d="100"/>
        </p:scale>
        <p:origin x="1108" y="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12/10/2025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12/9/2025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Refugee settlements in Uganda are unique!</a:t>
            </a:r>
          </a:p>
          <a:p>
            <a:endParaRPr lang="en-US" dirty="0"/>
          </a:p>
          <a:p>
            <a:r>
              <a:rPr lang="en-US" dirty="0"/>
              <a:t>Settlement layouts adhere to predefined UNHCR settlement planning protocols</a:t>
            </a:r>
          </a:p>
          <a:p>
            <a:endParaRPr lang="en-US" dirty="0"/>
          </a:p>
          <a:p>
            <a:r>
              <a:rPr lang="en-US" dirty="0"/>
              <a:t> The boundaries of the camp are not absolute boundaries, and structures, infrastructure and agricultural plots are commonly established alongside or beyond the boundary. </a:t>
            </a:r>
          </a:p>
          <a:p>
            <a:endParaRPr lang="en-US" dirty="0"/>
          </a:p>
          <a:p>
            <a:r>
              <a:rPr lang="en-US" dirty="0"/>
              <a:t>It is also common for refugee populations to only occupy a portion of the area demarcated by the settlement boundary</a:t>
            </a:r>
          </a:p>
          <a:p>
            <a:endParaRPr lang="en-US" dirty="0"/>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these settlements housing so many people, many of whom who have been there for more than 5 years, our existing maps of these regions and our understanding of how they develop and change over time is lacking. This is the so-called data disparity that plague some of our least “seen” places. </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2386183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Member’s from my lab visited </a:t>
            </a:r>
            <a:r>
              <a:rPr lang="en-US" dirty="0" err="1"/>
              <a:t>Nakivale</a:t>
            </a:r>
            <a:r>
              <a:rPr lang="en-US" dirty="0"/>
              <a:t> and some other refugee settlements this summer and observed that the existing OSM data is incomplete. </a:t>
            </a:r>
          </a:p>
          <a:p>
            <a:endParaRPr lang="en-US" dirty="0"/>
          </a:p>
          <a:p>
            <a:r>
              <a:rPr lang="en-US" dirty="0"/>
              <a:t>This is of interest to our lab, because we’ve recently been launching a project aimed to better understanding the economies of these places, which is largely predicated on agriculture. Our ultimate interests are two-fold, the first is disambiguating surrounding agricultural fields that are being tending by refugees to those that belong to host country nationals. The second goal is the estimate average commute times.</a:t>
            </a:r>
          </a:p>
          <a:p>
            <a:endParaRPr lang="en-US" dirty="0"/>
          </a:p>
          <a:p>
            <a:r>
              <a:rPr lang="en-US" dirty="0"/>
              <a:t>We are planning on employing an undergraduate to begin digitize roads manually, however this process is slow and costly. We’ll have to be particularly careful about designing protocols to ensure standardization of practices.  </a:t>
            </a:r>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501160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I’ve listed some of the state-of-the-art approaches, their advantages and their </a:t>
            </a:r>
            <a:r>
              <a:rPr lang="en-US"/>
              <a:t>downsides.</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4050233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Prioritize…because we care about where people are and where the fields are</a:t>
            </a:r>
          </a:p>
          <a:p>
            <a:endParaRPr lang="en-US" dirty="0"/>
          </a:p>
          <a:p>
            <a:r>
              <a:rPr lang="en-US" dirty="0"/>
              <a:t>Loss function to balances class imbalance and preserves road topology</a:t>
            </a:r>
          </a:p>
          <a:p>
            <a:endParaRPr lang="en-US" dirty="0"/>
          </a:p>
          <a:p>
            <a:r>
              <a:rPr lang="en-US" dirty="0"/>
              <a:t>BCE – pixel wise classification loss that measures predicted and observed BCE(</a:t>
            </a:r>
            <a:r>
              <a:rPr lang="en-US" dirty="0" err="1"/>
              <a:t>p,y</a:t>
            </a:r>
            <a:r>
              <a:rPr lang="en-US" dirty="0"/>
              <a:t>)=−[</a:t>
            </a:r>
            <a:r>
              <a:rPr lang="en-US" dirty="0" err="1"/>
              <a:t>ylog</a:t>
            </a:r>
            <a:r>
              <a:rPr lang="en-US" dirty="0"/>
              <a:t>(p)+(1−y)log(1−p)]</a:t>
            </a:r>
          </a:p>
          <a:p>
            <a:endParaRPr lang="en-US" dirty="0"/>
          </a:p>
          <a:p>
            <a:r>
              <a:rPr lang="en-US" dirty="0"/>
              <a:t>Dice – measure of spatial overlap between two sets, encourages smooth regions</a:t>
            </a:r>
          </a:p>
          <a:p>
            <a:endParaRPr lang="en-US" dirty="0"/>
          </a:p>
          <a:p>
            <a:r>
              <a:rPr lang="en-US" dirty="0" err="1"/>
              <a:t>clDice</a:t>
            </a:r>
            <a:r>
              <a:rPr lang="en-US" dirty="0"/>
              <a:t> – centerline dice, a topologically aware version of Dice loss. I don’t really understand this yet, lambda3 could be zero (lol)</a:t>
            </a:r>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2994759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634596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AA975-7A68-55DA-E21A-48FAE0C45C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E2977-7DD7-2B24-8E08-184CD20FBB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13CE7-AF07-E294-F894-A918FFD467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208280-C9B5-686D-3B49-69470CF2856C}"/>
              </a:ext>
            </a:extLst>
          </p:cNvPr>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4195151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5144881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amaha7984/Road-Extraction-with-Advanced-Deep-Learning-Model" TargetMode="External"/><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4926330" y="627016"/>
            <a:ext cx="6884670" cy="2340429"/>
          </a:xfrm>
        </p:spPr>
        <p:txBody>
          <a:bodyPr/>
          <a:lstStyle/>
          <a:p>
            <a:r>
              <a:rPr lang="en-US" sz="4400" dirty="0"/>
              <a:t>Automated road and footpath extraction in </a:t>
            </a:r>
            <a:r>
              <a:rPr lang="en-US" sz="4400" dirty="0" err="1"/>
              <a:t>Nakivale</a:t>
            </a:r>
            <a:r>
              <a:rPr lang="en-US" sz="4400" dirty="0"/>
              <a:t>, Uganda</a:t>
            </a:r>
          </a:p>
        </p:txBody>
      </p:sp>
      <p:sp>
        <p:nvSpPr>
          <p:cNvPr id="3" name="Title 1">
            <a:extLst>
              <a:ext uri="{FF2B5EF4-FFF2-40B4-BE49-F238E27FC236}">
                <a16:creationId xmlns:a16="http://schemas.microsoft.com/office/drawing/2014/main" id="{69790DB8-FED2-305F-8B6F-8FAE559B837D}"/>
              </a:ext>
            </a:extLst>
          </p:cNvPr>
          <p:cNvSpPr txBox="1">
            <a:spLocks/>
          </p:cNvSpPr>
          <p:nvPr/>
        </p:nvSpPr>
        <p:spPr>
          <a:xfrm>
            <a:off x="6254750" y="3298371"/>
            <a:ext cx="5486400" cy="3291840"/>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4800" dirty="0"/>
          </a:p>
        </p:txBody>
      </p:sp>
      <p:sp>
        <p:nvSpPr>
          <p:cNvPr id="5" name="Title 1">
            <a:extLst>
              <a:ext uri="{FF2B5EF4-FFF2-40B4-BE49-F238E27FC236}">
                <a16:creationId xmlns:a16="http://schemas.microsoft.com/office/drawing/2014/main" id="{C33E4780-8EFF-DF7F-23E2-9522164DFE4E}"/>
              </a:ext>
            </a:extLst>
          </p:cNvPr>
          <p:cNvSpPr txBox="1">
            <a:spLocks/>
          </p:cNvSpPr>
          <p:nvPr/>
        </p:nvSpPr>
        <p:spPr>
          <a:xfrm>
            <a:off x="4987290" y="3082834"/>
            <a:ext cx="2686050" cy="346166"/>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t>By Zachary Mondschein</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a:lstStyle/>
          <a:p>
            <a:r>
              <a:rPr lang="en-US" dirty="0"/>
              <a:t>Refugee Settlements in Uganda</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3657600" y="2281238"/>
            <a:ext cx="7810500" cy="3700462"/>
          </a:xfrm>
        </p:spPr>
        <p:txBody>
          <a:bodyPr>
            <a:normAutofit/>
          </a:bodyPr>
          <a:lstStyle/>
          <a:p>
            <a:r>
              <a:rPr lang="en-US" dirty="0"/>
              <a:t>Uganda hosts </a:t>
            </a:r>
            <a:r>
              <a:rPr lang="en-US" b="1" dirty="0"/>
              <a:t>1.4 million refugees</a:t>
            </a:r>
          </a:p>
          <a:p>
            <a:r>
              <a:rPr lang="en-US" dirty="0"/>
              <a:t>The earliest refugee camps were settled in the 1960s</a:t>
            </a:r>
          </a:p>
          <a:p>
            <a:r>
              <a:rPr lang="en-US" dirty="0"/>
              <a:t>Refugee population increased 10x between 2012-2017</a:t>
            </a:r>
          </a:p>
          <a:p>
            <a:r>
              <a:rPr lang="en-US" dirty="0"/>
              <a:t>Refugee </a:t>
            </a:r>
            <a:r>
              <a:rPr lang="en-US" u="sng" dirty="0"/>
              <a:t>settlements</a:t>
            </a:r>
            <a:r>
              <a:rPr lang="en-US" dirty="0"/>
              <a:t> in Uganda are unique</a:t>
            </a:r>
          </a:p>
          <a:p>
            <a:endParaRPr lang="en-US" dirty="0"/>
          </a:p>
          <a:p>
            <a:endParaRPr lang="en-US" dirty="0"/>
          </a:p>
          <a:p>
            <a:endParaRPr lang="en-US" dirty="0"/>
          </a:p>
          <a:p>
            <a:pPr marL="0" indent="0">
              <a:buNone/>
            </a:pPr>
            <a:endParaRPr lang="en-US" dirty="0"/>
          </a:p>
          <a:p>
            <a:endParaRPr lang="en-US" dirty="0"/>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graphicFrame>
        <p:nvGraphicFramePr>
          <p:cNvPr id="4" name="Object 3">
            <a:extLst>
              <a:ext uri="{FF2B5EF4-FFF2-40B4-BE49-F238E27FC236}">
                <a16:creationId xmlns:a16="http://schemas.microsoft.com/office/drawing/2014/main" id="{4F98C7B5-C135-092B-F6C2-EBEAFDA72010}"/>
              </a:ext>
            </a:extLst>
          </p:cNvPr>
          <p:cNvGraphicFramePr>
            <a:graphicFrameLocks noChangeAspect="1"/>
          </p:cNvGraphicFramePr>
          <p:nvPr>
            <p:extLst>
              <p:ext uri="{D42A27DB-BD31-4B8C-83A1-F6EECF244321}">
                <p14:modId xmlns:p14="http://schemas.microsoft.com/office/powerpoint/2010/main" val="970352906"/>
              </p:ext>
            </p:extLst>
          </p:nvPr>
        </p:nvGraphicFramePr>
        <p:xfrm>
          <a:off x="8537575" y="4087813"/>
          <a:ext cx="233363" cy="196850"/>
        </p:xfrm>
        <a:graphic>
          <a:graphicData uri="http://schemas.openxmlformats.org/presentationml/2006/ole">
            <mc:AlternateContent xmlns:mc="http://schemas.openxmlformats.org/markup-compatibility/2006">
              <mc:Choice xmlns:v="urn:schemas-microsoft-com:vml" Requires="v">
                <p:oleObj name="Packager Shell Object" showAsIcon="1" r:id="rId3" imgW="801720" imgH="678240" progId="Package">
                  <p:embed/>
                </p:oleObj>
              </mc:Choice>
              <mc:Fallback>
                <p:oleObj name="Packager Shell Object" showAsIcon="1" r:id="rId3" imgW="801720" imgH="678240" progId="Package">
                  <p:embed/>
                  <p:pic>
                    <p:nvPicPr>
                      <p:cNvPr id="0" name=""/>
                      <p:cNvPicPr/>
                      <p:nvPr/>
                    </p:nvPicPr>
                    <p:blipFill>
                      <a:blip r:embed="rId4"/>
                      <a:stretch>
                        <a:fillRect/>
                      </a:stretch>
                    </p:blipFill>
                    <p:spPr>
                      <a:xfrm>
                        <a:off x="8537575" y="4087813"/>
                        <a:ext cx="233363" cy="196850"/>
                      </a:xfrm>
                      <a:prstGeom prst="rect">
                        <a:avLst/>
                      </a:prstGeom>
                    </p:spPr>
                  </p:pic>
                </p:oleObj>
              </mc:Fallback>
            </mc:AlternateContent>
          </a:graphicData>
        </a:graphic>
      </p:graphicFrame>
    </p:spTree>
    <p:extLst>
      <p:ext uri="{BB962C8B-B14F-4D97-AF65-F5344CB8AC3E}">
        <p14:creationId xmlns:p14="http://schemas.microsoft.com/office/powerpoint/2010/main" val="3200312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46ED-721D-85EE-2F1B-A31D0912DE29}"/>
              </a:ext>
            </a:extLst>
          </p:cNvPr>
          <p:cNvSpPr>
            <a:spLocks noGrp="1"/>
          </p:cNvSpPr>
          <p:nvPr>
            <p:ph type="title"/>
          </p:nvPr>
        </p:nvSpPr>
        <p:spPr>
          <a:xfrm>
            <a:off x="594360" y="278129"/>
            <a:ext cx="9778365" cy="1494596"/>
          </a:xfrm>
        </p:spPr>
        <p:txBody>
          <a:bodyPr/>
          <a:lstStyle/>
          <a:p>
            <a:r>
              <a:rPr lang="en-US" dirty="0"/>
              <a:t>Mapping Infrastructure in </a:t>
            </a:r>
            <a:r>
              <a:rPr lang="en-US" dirty="0" err="1"/>
              <a:t>Nakivale</a:t>
            </a:r>
            <a:endParaRPr lang="en-US" dirty="0"/>
          </a:p>
        </p:txBody>
      </p:sp>
      <p:sp>
        <p:nvSpPr>
          <p:cNvPr id="3" name="Content Placeholder 2">
            <a:extLst>
              <a:ext uri="{FF2B5EF4-FFF2-40B4-BE49-F238E27FC236}">
                <a16:creationId xmlns:a16="http://schemas.microsoft.com/office/drawing/2014/main" id="{DB097449-5B72-ADA0-3B2D-1CBC160D6B90}"/>
              </a:ext>
            </a:extLst>
          </p:cNvPr>
          <p:cNvSpPr>
            <a:spLocks noGrp="1"/>
          </p:cNvSpPr>
          <p:nvPr>
            <p:ph sz="quarter" idx="15"/>
          </p:nvPr>
        </p:nvSpPr>
        <p:spPr>
          <a:xfrm>
            <a:off x="594360" y="2676525"/>
            <a:ext cx="4490827" cy="3597470"/>
          </a:xfrm>
        </p:spPr>
        <p:txBody>
          <a:bodyPr/>
          <a:lstStyle/>
          <a:p>
            <a:r>
              <a:rPr lang="en-US" dirty="0"/>
              <a:t>Road and footpath networks form the backbone of settlement life: </a:t>
            </a:r>
          </a:p>
          <a:p>
            <a:pPr lvl="1"/>
            <a:r>
              <a:rPr lang="en-US" dirty="0"/>
              <a:t>Markets</a:t>
            </a:r>
          </a:p>
          <a:p>
            <a:pPr lvl="1"/>
            <a:r>
              <a:rPr lang="en-US" dirty="0"/>
              <a:t>Access to water</a:t>
            </a:r>
          </a:p>
          <a:p>
            <a:pPr lvl="1"/>
            <a:r>
              <a:rPr lang="en-US" dirty="0"/>
              <a:t>Agricultural plots</a:t>
            </a:r>
          </a:p>
        </p:txBody>
      </p:sp>
      <p:sp>
        <p:nvSpPr>
          <p:cNvPr id="4" name="Content Placeholder 3">
            <a:extLst>
              <a:ext uri="{FF2B5EF4-FFF2-40B4-BE49-F238E27FC236}">
                <a16:creationId xmlns:a16="http://schemas.microsoft.com/office/drawing/2014/main" id="{41FC7B50-71A6-D8BE-C032-5EB4CF5706D5}"/>
              </a:ext>
            </a:extLst>
          </p:cNvPr>
          <p:cNvSpPr>
            <a:spLocks noGrp="1"/>
          </p:cNvSpPr>
          <p:nvPr>
            <p:ph sz="quarter" idx="16"/>
          </p:nvPr>
        </p:nvSpPr>
        <p:spPr>
          <a:xfrm>
            <a:off x="5881898" y="2676525"/>
            <a:ext cx="4490827" cy="3597470"/>
          </a:xfrm>
        </p:spPr>
        <p:txBody>
          <a:bodyPr/>
          <a:lstStyle/>
          <a:p>
            <a:pPr marL="342900" indent="-342900">
              <a:buFont typeface="Arial" panose="020B0604020202020204" pitchFamily="34" charset="0"/>
              <a:buChar char="•"/>
            </a:pPr>
            <a:r>
              <a:rPr lang="en-US" dirty="0"/>
              <a:t>Maps of these networks are incomplete, they appear to have not been updated for some years:</a:t>
            </a:r>
          </a:p>
        </p:txBody>
      </p:sp>
      <p:graphicFrame>
        <p:nvGraphicFramePr>
          <p:cNvPr id="5" name="Object 4">
            <a:extLst>
              <a:ext uri="{FF2B5EF4-FFF2-40B4-BE49-F238E27FC236}">
                <a16:creationId xmlns:a16="http://schemas.microsoft.com/office/drawing/2014/main" id="{D45BD780-49CC-8D4E-470A-18793A443644}"/>
              </a:ext>
            </a:extLst>
          </p:cNvPr>
          <p:cNvGraphicFramePr>
            <a:graphicFrameLocks noChangeAspect="1"/>
          </p:cNvGraphicFramePr>
          <p:nvPr>
            <p:extLst>
              <p:ext uri="{D42A27DB-BD31-4B8C-83A1-F6EECF244321}">
                <p14:modId xmlns:p14="http://schemas.microsoft.com/office/powerpoint/2010/main" val="4124757653"/>
              </p:ext>
            </p:extLst>
          </p:nvPr>
        </p:nvGraphicFramePr>
        <p:xfrm>
          <a:off x="7299325" y="3978275"/>
          <a:ext cx="1174750" cy="993775"/>
        </p:xfrm>
        <a:graphic>
          <a:graphicData uri="http://schemas.openxmlformats.org/presentationml/2006/ole">
            <mc:AlternateContent xmlns:mc="http://schemas.openxmlformats.org/markup-compatibility/2006">
              <mc:Choice xmlns:v="urn:schemas-microsoft-com:vml" Requires="v">
                <p:oleObj name="Packager Shell Object" showAsIcon="1" r:id="rId3" imgW="801720" imgH="678240" progId="Package">
                  <p:embed/>
                </p:oleObj>
              </mc:Choice>
              <mc:Fallback>
                <p:oleObj name="Packager Shell Object" showAsIcon="1" r:id="rId3" imgW="801720" imgH="678240" progId="Package">
                  <p:embed/>
                  <p:pic>
                    <p:nvPicPr>
                      <p:cNvPr id="0" name=""/>
                      <p:cNvPicPr/>
                      <p:nvPr/>
                    </p:nvPicPr>
                    <p:blipFill>
                      <a:blip r:embed="rId4"/>
                      <a:stretch>
                        <a:fillRect/>
                      </a:stretch>
                    </p:blipFill>
                    <p:spPr>
                      <a:xfrm>
                        <a:off x="7299325" y="3978275"/>
                        <a:ext cx="1174750" cy="993775"/>
                      </a:xfrm>
                      <a:prstGeom prst="rect">
                        <a:avLst/>
                      </a:prstGeom>
                    </p:spPr>
                  </p:pic>
                </p:oleObj>
              </mc:Fallback>
            </mc:AlternateContent>
          </a:graphicData>
        </a:graphic>
      </p:graphicFrame>
    </p:spTree>
    <p:extLst>
      <p:ext uri="{BB962C8B-B14F-4D97-AF65-F5344CB8AC3E}">
        <p14:creationId xmlns:p14="http://schemas.microsoft.com/office/powerpoint/2010/main" val="888484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29B5-1B58-809F-FEA7-B82105E94664}"/>
              </a:ext>
            </a:extLst>
          </p:cNvPr>
          <p:cNvSpPr>
            <a:spLocks noGrp="1"/>
          </p:cNvSpPr>
          <p:nvPr>
            <p:ph type="title"/>
          </p:nvPr>
        </p:nvSpPr>
        <p:spPr>
          <a:xfrm>
            <a:off x="6318885" y="3499667"/>
            <a:ext cx="4939666" cy="2542810"/>
          </a:xfrm>
        </p:spPr>
        <p:txBody>
          <a:bodyPr/>
          <a:lstStyle/>
          <a:p>
            <a:r>
              <a:rPr lang="en-US" dirty="0"/>
              <a:t>Road Detection In the Tropical Agrarian Context</a:t>
            </a:r>
          </a:p>
        </p:txBody>
      </p:sp>
      <p:sp>
        <p:nvSpPr>
          <p:cNvPr id="4" name="Content Placeholder 3">
            <a:extLst>
              <a:ext uri="{FF2B5EF4-FFF2-40B4-BE49-F238E27FC236}">
                <a16:creationId xmlns:a16="http://schemas.microsoft.com/office/drawing/2014/main" id="{07C3632C-2D2E-7026-33B8-EE42DA4BDB5C}"/>
              </a:ext>
            </a:extLst>
          </p:cNvPr>
          <p:cNvSpPr>
            <a:spLocks noGrp="1"/>
          </p:cNvSpPr>
          <p:nvPr>
            <p:ph sz="quarter" idx="14"/>
          </p:nvPr>
        </p:nvSpPr>
        <p:spPr>
          <a:xfrm>
            <a:off x="603885" y="457201"/>
            <a:ext cx="5198269" cy="2305050"/>
          </a:xfrm>
        </p:spPr>
        <p:txBody>
          <a:bodyPr>
            <a:normAutofit fontScale="92500" lnSpcReduction="20000"/>
          </a:bodyPr>
          <a:lstStyle/>
          <a:p>
            <a:r>
              <a:rPr lang="en-US" dirty="0"/>
              <a:t>Missing road data limits our ability to develop quantitative models to understand the where’s, why’s and how’s of refugee lives</a:t>
            </a:r>
          </a:p>
          <a:p>
            <a:r>
              <a:rPr lang="en-US" dirty="0"/>
              <a:t>Settlement expansion and land use</a:t>
            </a:r>
          </a:p>
          <a:p>
            <a:r>
              <a:rPr lang="en-US" dirty="0"/>
              <a:t>Manual digitization is slow and costly, so I’m taking advantage of this course to pilot an automated road detection workflow</a:t>
            </a:r>
          </a:p>
          <a:p>
            <a:endParaRPr lang="en-US" dirty="0"/>
          </a:p>
        </p:txBody>
      </p:sp>
      <p:sp>
        <p:nvSpPr>
          <p:cNvPr id="3" name="Content Placeholder 2">
            <a:extLst>
              <a:ext uri="{FF2B5EF4-FFF2-40B4-BE49-F238E27FC236}">
                <a16:creationId xmlns:a16="http://schemas.microsoft.com/office/drawing/2014/main" id="{8B599B60-BF79-A832-6AD4-6C6FC6CE4317}"/>
              </a:ext>
            </a:extLst>
          </p:cNvPr>
          <p:cNvSpPr>
            <a:spLocks noGrp="1"/>
          </p:cNvSpPr>
          <p:nvPr>
            <p:ph sz="quarter" idx="15"/>
          </p:nvPr>
        </p:nvSpPr>
        <p:spPr>
          <a:xfrm>
            <a:off x="594360" y="2810595"/>
            <a:ext cx="5198269" cy="3319513"/>
          </a:xfrm>
        </p:spPr>
        <p:txBody>
          <a:bodyPr>
            <a:normAutofit fontScale="85000" lnSpcReduction="10000"/>
          </a:bodyPr>
          <a:lstStyle/>
          <a:p>
            <a:r>
              <a:rPr lang="en-US" i="1" dirty="0"/>
              <a:t>Why should we care??</a:t>
            </a:r>
          </a:p>
          <a:p>
            <a:pPr lvl="1"/>
            <a:r>
              <a:rPr lang="en-US" dirty="0"/>
              <a:t>Supports food security and humanitarian planning!</a:t>
            </a:r>
          </a:p>
          <a:p>
            <a:pPr lvl="1"/>
            <a:r>
              <a:rPr lang="en-US" dirty="0"/>
              <a:t>Contribute to representational equity in geospatial data (closing data gaps)</a:t>
            </a:r>
          </a:p>
          <a:p>
            <a:pPr lvl="1"/>
            <a:r>
              <a:rPr lang="en-US" dirty="0"/>
              <a:t>There is a technical motivation as well! There have been few attempts to do these kinds of projects in rural agrarian settings. </a:t>
            </a:r>
          </a:p>
          <a:p>
            <a:pPr lvl="1"/>
            <a:r>
              <a:rPr lang="en-US" dirty="0"/>
              <a:t>Can we fine-tune general purpose vision models (e.g. a U-Net pretrained on ImageNet) or models trained on urban road data to our low-resource humanitarian context. </a:t>
            </a:r>
          </a:p>
        </p:txBody>
      </p:sp>
    </p:spTree>
    <p:extLst>
      <p:ext uri="{BB962C8B-B14F-4D97-AF65-F5344CB8AC3E}">
        <p14:creationId xmlns:p14="http://schemas.microsoft.com/office/powerpoint/2010/main" val="3088225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6A9A9A7-F1D2-237D-AC72-E21A286F0A6F}"/>
              </a:ext>
            </a:extLst>
          </p:cNvPr>
          <p:cNvSpPr>
            <a:spLocks noGrp="1"/>
          </p:cNvSpPr>
          <p:nvPr>
            <p:ph type="title"/>
          </p:nvPr>
        </p:nvSpPr>
        <p:spPr>
          <a:xfrm>
            <a:off x="3661409" y="4661717"/>
            <a:ext cx="7936230" cy="1380760"/>
          </a:xfrm>
        </p:spPr>
        <p:txBody>
          <a:bodyPr/>
          <a:lstStyle/>
          <a:p>
            <a:r>
              <a:rPr lang="en-US" sz="3600" dirty="0"/>
              <a:t>Deep Learning for Road Extraction</a:t>
            </a:r>
          </a:p>
        </p:txBody>
      </p:sp>
      <p:sp>
        <p:nvSpPr>
          <p:cNvPr id="4" name="Content Placeholder 3">
            <a:extLst>
              <a:ext uri="{FF2B5EF4-FFF2-40B4-BE49-F238E27FC236}">
                <a16:creationId xmlns:a16="http://schemas.microsoft.com/office/drawing/2014/main" id="{CDB14AAA-1F04-769D-E7F0-4F68C8EB9283}"/>
              </a:ext>
            </a:extLst>
          </p:cNvPr>
          <p:cNvSpPr>
            <a:spLocks noGrp="1"/>
          </p:cNvSpPr>
          <p:nvPr>
            <p:ph sz="quarter" idx="14"/>
          </p:nvPr>
        </p:nvSpPr>
        <p:spPr>
          <a:xfrm>
            <a:off x="952500" y="571321"/>
            <a:ext cx="2825115" cy="1476023"/>
          </a:xfrm>
        </p:spPr>
        <p:txBody>
          <a:bodyPr>
            <a:normAutofit/>
          </a:bodyPr>
          <a:lstStyle/>
          <a:p>
            <a:r>
              <a:rPr lang="en-US" sz="2400" dirty="0"/>
              <a:t>Where do we stand? What is </a:t>
            </a:r>
            <a:r>
              <a:rPr lang="en-US" sz="2400" i="1" dirty="0"/>
              <a:t>the state-of-the-art</a:t>
            </a:r>
            <a:r>
              <a:rPr lang="en-US" sz="2400" dirty="0"/>
              <a:t>?</a:t>
            </a:r>
          </a:p>
        </p:txBody>
      </p:sp>
      <p:pic>
        <p:nvPicPr>
          <p:cNvPr id="7" name="Content Placeholder 6" descr="A screenshot of a computer&#10;&#10;AI-generated content may be incorrect.">
            <a:extLst>
              <a:ext uri="{FF2B5EF4-FFF2-40B4-BE49-F238E27FC236}">
                <a16:creationId xmlns:a16="http://schemas.microsoft.com/office/drawing/2014/main" id="{BACB0CA6-9B07-AC2D-032A-9C9829F869D5}"/>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5174524" y="571321"/>
            <a:ext cx="4890951" cy="4780776"/>
          </a:xfrm>
          <a:noFill/>
          <a:ln w="15875">
            <a:solidFill>
              <a:schemeClr val="bg1"/>
            </a:solidFill>
          </a:ln>
        </p:spPr>
      </p:pic>
    </p:spTree>
    <p:extLst>
      <p:ext uri="{BB962C8B-B14F-4D97-AF65-F5344CB8AC3E}">
        <p14:creationId xmlns:p14="http://schemas.microsoft.com/office/powerpoint/2010/main" val="4127695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A871D-B15E-C971-7C85-0AF173E38781}"/>
              </a:ext>
            </a:extLst>
          </p:cNvPr>
          <p:cNvSpPr>
            <a:spLocks noGrp="1"/>
          </p:cNvSpPr>
          <p:nvPr>
            <p:ph type="title"/>
          </p:nvPr>
        </p:nvSpPr>
        <p:spPr>
          <a:xfrm>
            <a:off x="575310" y="278129"/>
            <a:ext cx="5063490" cy="2354026"/>
          </a:xfrm>
        </p:spPr>
        <p:txBody>
          <a:bodyPr/>
          <a:lstStyle/>
          <a:p>
            <a:r>
              <a:rPr lang="en-US" dirty="0"/>
              <a:t>Anticipated Methods (overview)</a:t>
            </a:r>
          </a:p>
        </p:txBody>
      </p:sp>
      <p:sp>
        <p:nvSpPr>
          <p:cNvPr id="3" name="Content Placeholder 2">
            <a:extLst>
              <a:ext uri="{FF2B5EF4-FFF2-40B4-BE49-F238E27FC236}">
                <a16:creationId xmlns:a16="http://schemas.microsoft.com/office/drawing/2014/main" id="{34F2E863-4A4C-76FE-444A-083F93043389}"/>
              </a:ext>
            </a:extLst>
          </p:cNvPr>
          <p:cNvSpPr>
            <a:spLocks noGrp="1"/>
          </p:cNvSpPr>
          <p:nvPr>
            <p:ph sz="quarter" idx="16"/>
          </p:nvPr>
        </p:nvSpPr>
        <p:spPr>
          <a:xfrm>
            <a:off x="593725" y="3279775"/>
            <a:ext cx="5045075" cy="2994025"/>
          </a:xfrm>
        </p:spPr>
        <p:txBody>
          <a:bodyPr>
            <a:normAutofit fontScale="70000" lnSpcReduction="20000"/>
          </a:bodyPr>
          <a:lstStyle/>
          <a:p>
            <a:pPr marL="342900" indent="-342900">
              <a:buFont typeface="Arial" panose="020B0604020202020204" pitchFamily="34" charset="0"/>
              <a:buChar char="•"/>
            </a:pPr>
            <a:r>
              <a:rPr lang="en-US" dirty="0"/>
              <a:t>Fine-tune a </a:t>
            </a:r>
            <a:r>
              <a:rPr lang="en-US" b="1" dirty="0"/>
              <a:t>pretrained U-Net (ResNet-34 encoder)</a:t>
            </a:r>
            <a:r>
              <a:rPr lang="en-US" dirty="0"/>
              <a:t> on 50 cm Maxar imagery. [</a:t>
            </a:r>
            <a:r>
              <a:rPr lang="en-US" dirty="0">
                <a:hlinkClick r:id="rId3"/>
              </a:rPr>
              <a:t>https://github.com/amaha7984/Road-Extraction-with-Advanced-Deep-Learning-Model</a:t>
            </a:r>
            <a:r>
              <a:rPr lang="en-US" dirty="0"/>
              <a:t>]</a:t>
            </a:r>
          </a:p>
          <a:p>
            <a:pPr marL="342900" indent="-342900">
              <a:buFont typeface="Arial" panose="020B0604020202020204" pitchFamily="34" charset="0"/>
              <a:buChar char="•"/>
            </a:pPr>
            <a:r>
              <a:rPr lang="en-US" dirty="0"/>
              <a:t>Combine </a:t>
            </a:r>
            <a:r>
              <a:rPr lang="en-US" b="1" dirty="0"/>
              <a:t>OSM roads</a:t>
            </a:r>
            <a:r>
              <a:rPr lang="en-US" dirty="0"/>
              <a:t> with manual annotations of missing paths.</a:t>
            </a:r>
          </a:p>
          <a:p>
            <a:pPr marL="342900" indent="-342900">
              <a:buFont typeface="Arial" panose="020B0604020202020204" pitchFamily="34" charset="0"/>
              <a:buChar char="•"/>
            </a:pPr>
            <a:r>
              <a:rPr lang="en-US" dirty="0"/>
              <a:t>Prioritize labeling AOIs around </a:t>
            </a:r>
            <a:r>
              <a:rPr lang="en-US" b="1" dirty="0"/>
              <a:t>population centers and cultivated fields</a:t>
            </a:r>
            <a:r>
              <a:rPr lang="en-US" dirty="0"/>
              <a:t>.</a:t>
            </a:r>
          </a:p>
          <a:p>
            <a:pPr marL="342900" indent="-342900">
              <a:buFont typeface="Arial" panose="020B0604020202020204" pitchFamily="34" charset="0"/>
              <a:buChar char="•"/>
            </a:pPr>
            <a:r>
              <a:rPr lang="it-IT" dirty="0"/>
              <a:t>Loss=</a:t>
            </a:r>
            <a:r>
              <a:rPr lang="el-GR" dirty="0"/>
              <a:t>λ1</a:t>
            </a:r>
            <a:r>
              <a:rPr lang="en-US" dirty="0"/>
              <a:t>x</a:t>
            </a:r>
            <a:r>
              <a:rPr lang="el-GR" dirty="0"/>
              <a:t>​</a:t>
            </a:r>
            <a:r>
              <a:rPr lang="en-US" dirty="0"/>
              <a:t>BCE​+</a:t>
            </a:r>
            <a:r>
              <a:rPr lang="el-GR" dirty="0"/>
              <a:t>λ2</a:t>
            </a:r>
            <a:r>
              <a:rPr lang="en-US" dirty="0"/>
              <a:t>x</a:t>
            </a:r>
            <a:r>
              <a:rPr lang="el-GR" dirty="0"/>
              <a:t>​</a:t>
            </a:r>
            <a:r>
              <a:rPr lang="en-US" dirty="0"/>
              <a:t>Dice​+</a:t>
            </a:r>
            <a:r>
              <a:rPr lang="el-GR" dirty="0"/>
              <a:t>λ3​</a:t>
            </a:r>
            <a:r>
              <a:rPr lang="en-US" dirty="0" err="1"/>
              <a:t>xclDice</a:t>
            </a:r>
            <a:r>
              <a:rPr lang="en-US" dirty="0"/>
              <a:t>​</a:t>
            </a:r>
          </a:p>
          <a:p>
            <a:pPr marL="342900" indent="-342900">
              <a:buFont typeface="Arial" panose="020B0604020202020204" pitchFamily="34" charset="0"/>
              <a:buChar char="•"/>
            </a:pPr>
            <a:r>
              <a:rPr lang="en-US" dirty="0"/>
              <a:t>Post processing to vectorize the road mask and snap them based on some sensitivity threshold to ensure sound topology. </a:t>
            </a:r>
          </a:p>
        </p:txBody>
      </p:sp>
      <p:pic>
        <p:nvPicPr>
          <p:cNvPr id="5" name="Picture Placeholder 52" descr="Hanging lightbulbs">
            <a:extLst>
              <a:ext uri="{FF2B5EF4-FFF2-40B4-BE49-F238E27FC236}">
                <a16:creationId xmlns:a16="http://schemas.microsoft.com/office/drawing/2014/main" id="{F2B2501C-600C-11B3-1ECD-912D988906A5}"/>
              </a:ext>
            </a:extLst>
          </p:cNvPr>
          <p:cNvPicPr>
            <a:picLocks noGrp="1" noChangeAspect="1"/>
          </p:cNvPicPr>
          <p:nvPr>
            <p:ph type="pic" sz="quarter" idx="15"/>
          </p:nvPr>
        </p:nvPicPr>
        <p:blipFill>
          <a:blip r:embed="rId4">
            <a:extLst>
              <a:ext uri="{28A0092B-C50C-407E-A947-70E740481C1C}">
                <a14:useLocalDpi xmlns:a14="http://schemas.microsoft.com/office/drawing/2010/main" val="0"/>
              </a:ext>
            </a:extLst>
          </a:blip>
          <a:srcRect l="16" r="16"/>
          <a:stretch/>
        </p:blipFill>
        <p:spPr>
          <a:xfrm>
            <a:off x="6096000" y="0"/>
            <a:ext cx="6118225" cy="6858000"/>
          </a:xfrm>
        </p:spPr>
      </p:pic>
    </p:spTree>
    <p:extLst>
      <p:ext uri="{BB962C8B-B14F-4D97-AF65-F5344CB8AC3E}">
        <p14:creationId xmlns:p14="http://schemas.microsoft.com/office/powerpoint/2010/main" val="298364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59DC4-8B30-98A0-5BAB-C78BA4A4AD55}"/>
              </a:ext>
            </a:extLst>
          </p:cNvPr>
          <p:cNvSpPr>
            <a:spLocks noGrp="1"/>
          </p:cNvSpPr>
          <p:nvPr>
            <p:ph type="title"/>
          </p:nvPr>
        </p:nvSpPr>
        <p:spPr>
          <a:xfrm>
            <a:off x="594360" y="198408"/>
            <a:ext cx="10972800" cy="1574317"/>
          </a:xfrm>
        </p:spPr>
        <p:txBody>
          <a:bodyPr/>
          <a:lstStyle/>
          <a:p>
            <a:r>
              <a:rPr lang="en-US" dirty="0"/>
              <a:t>Anticipated Methods (detailed)</a:t>
            </a:r>
          </a:p>
        </p:txBody>
      </p:sp>
      <p:sp>
        <p:nvSpPr>
          <p:cNvPr id="3" name="Content Placeholder 2">
            <a:extLst>
              <a:ext uri="{FF2B5EF4-FFF2-40B4-BE49-F238E27FC236}">
                <a16:creationId xmlns:a16="http://schemas.microsoft.com/office/drawing/2014/main" id="{4096FB3A-B62C-3DAB-4FD1-B4EBDD650AEF}"/>
              </a:ext>
            </a:extLst>
          </p:cNvPr>
          <p:cNvSpPr>
            <a:spLocks noGrp="1"/>
          </p:cNvSpPr>
          <p:nvPr>
            <p:ph sz="quarter" idx="13"/>
          </p:nvPr>
        </p:nvSpPr>
        <p:spPr>
          <a:xfrm>
            <a:off x="576823" y="2466319"/>
            <a:ext cx="5746750" cy="3597470"/>
          </a:xfrm>
        </p:spPr>
        <p:txBody>
          <a:bodyPr>
            <a:normAutofit/>
          </a:bodyPr>
          <a:lstStyle/>
          <a:p>
            <a:pPr lvl="1"/>
            <a:endParaRPr lang="en-US" dirty="0"/>
          </a:p>
          <a:p>
            <a:pPr lvl="1"/>
            <a:r>
              <a:rPr lang="en-US" dirty="0"/>
              <a:t>Acquire and tile up </a:t>
            </a:r>
            <a:r>
              <a:rPr lang="en-US" dirty="0" err="1"/>
              <a:t>maxar</a:t>
            </a:r>
            <a:r>
              <a:rPr lang="en-US" dirty="0"/>
              <a:t> imagery (stored on HPC)</a:t>
            </a:r>
          </a:p>
          <a:p>
            <a:pPr lvl="1"/>
            <a:r>
              <a:rPr lang="en-US" dirty="0"/>
              <a:t>Align </a:t>
            </a:r>
            <a:r>
              <a:rPr lang="en-US" dirty="0" err="1"/>
              <a:t>maxar</a:t>
            </a:r>
            <a:r>
              <a:rPr lang="en-US" dirty="0"/>
              <a:t> imagery with OSM layer, define AOI(s)</a:t>
            </a:r>
          </a:p>
          <a:p>
            <a:pPr lvl="1"/>
            <a:r>
              <a:rPr lang="en-US" dirty="0"/>
              <a:t>512 × 512 </a:t>
            </a:r>
            <a:r>
              <a:rPr lang="en-US" dirty="0" err="1"/>
              <a:t>px</a:t>
            </a:r>
            <a:r>
              <a:rPr lang="en-US" dirty="0"/>
              <a:t> patches at </a:t>
            </a:r>
            <a:r>
              <a:rPr lang="en-US" dirty="0" err="1"/>
              <a:t>maxar</a:t>
            </a:r>
            <a:r>
              <a:rPr lang="en-US" dirty="0"/>
              <a:t> 0.5m = 256 × 256m coverage per patch </a:t>
            </a:r>
          </a:p>
          <a:p>
            <a:pPr lvl="1"/>
            <a:endParaRPr lang="en-US" dirty="0"/>
          </a:p>
          <a:p>
            <a:pPr lvl="1"/>
            <a:r>
              <a:rPr lang="en-US" dirty="0"/>
              <a:t>Can label 200-500 patches (maybe). Plan to annotate lines in QGIS and then buffer to create mask</a:t>
            </a:r>
          </a:p>
        </p:txBody>
      </p:sp>
      <p:sp>
        <p:nvSpPr>
          <p:cNvPr id="4" name="Content Placeholder 3">
            <a:extLst>
              <a:ext uri="{FF2B5EF4-FFF2-40B4-BE49-F238E27FC236}">
                <a16:creationId xmlns:a16="http://schemas.microsoft.com/office/drawing/2014/main" id="{43E198AA-251D-4446-30C4-8F2FA7F6A72C}"/>
              </a:ext>
            </a:extLst>
          </p:cNvPr>
          <p:cNvSpPr>
            <a:spLocks noGrp="1"/>
          </p:cNvSpPr>
          <p:nvPr>
            <p:ph sz="quarter" idx="14"/>
          </p:nvPr>
        </p:nvSpPr>
        <p:spPr>
          <a:xfrm>
            <a:off x="7620000" y="2676526"/>
            <a:ext cx="3947160" cy="752474"/>
          </a:xfrm>
        </p:spPr>
        <p:txBody>
          <a:bodyPr/>
          <a:lstStyle/>
          <a:p>
            <a:r>
              <a:rPr lang="en-US" dirty="0"/>
              <a:t>80/10/10 or 70/15/15 train/test/validation split</a:t>
            </a:r>
          </a:p>
        </p:txBody>
      </p:sp>
    </p:spTree>
    <p:extLst>
      <p:ext uri="{BB962C8B-B14F-4D97-AF65-F5344CB8AC3E}">
        <p14:creationId xmlns:p14="http://schemas.microsoft.com/office/powerpoint/2010/main" val="1850768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F18E3-FAB8-9EC6-C9F2-8C16D2803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F1BE00-EC94-781D-5A54-BD047A64C993}"/>
              </a:ext>
            </a:extLst>
          </p:cNvPr>
          <p:cNvSpPr>
            <a:spLocks noGrp="1"/>
          </p:cNvSpPr>
          <p:nvPr>
            <p:ph type="title"/>
          </p:nvPr>
        </p:nvSpPr>
        <p:spPr>
          <a:xfrm>
            <a:off x="594360" y="198408"/>
            <a:ext cx="10972800" cy="1574317"/>
          </a:xfrm>
        </p:spPr>
        <p:txBody>
          <a:bodyPr/>
          <a:lstStyle/>
          <a:p>
            <a:r>
              <a:rPr lang="en-US" dirty="0"/>
              <a:t>Anticipated Results</a:t>
            </a:r>
          </a:p>
        </p:txBody>
      </p:sp>
      <p:sp>
        <p:nvSpPr>
          <p:cNvPr id="3" name="Content Placeholder 2">
            <a:extLst>
              <a:ext uri="{FF2B5EF4-FFF2-40B4-BE49-F238E27FC236}">
                <a16:creationId xmlns:a16="http://schemas.microsoft.com/office/drawing/2014/main" id="{BF0E1AF6-325D-D05E-E067-0FF8AB925801}"/>
              </a:ext>
            </a:extLst>
          </p:cNvPr>
          <p:cNvSpPr>
            <a:spLocks noGrp="1"/>
          </p:cNvSpPr>
          <p:nvPr>
            <p:ph sz="quarter" idx="13"/>
          </p:nvPr>
        </p:nvSpPr>
        <p:spPr>
          <a:xfrm>
            <a:off x="576823" y="2466319"/>
            <a:ext cx="5746750" cy="3597470"/>
          </a:xfrm>
        </p:spPr>
        <p:txBody>
          <a:bodyPr>
            <a:normAutofit/>
          </a:bodyPr>
          <a:lstStyle/>
          <a:p>
            <a:pPr lvl="1"/>
            <a:endParaRPr lang="en-US" dirty="0"/>
          </a:p>
          <a:p>
            <a:pPr lvl="1"/>
            <a:r>
              <a:rPr lang="en-US" dirty="0"/>
              <a:t>road/footpath vector dataset with partial coverage of </a:t>
            </a:r>
            <a:r>
              <a:rPr lang="en-US" dirty="0" err="1"/>
              <a:t>Nakivale</a:t>
            </a:r>
            <a:endParaRPr lang="en-US" dirty="0"/>
          </a:p>
          <a:p>
            <a:pPr lvl="1"/>
            <a:r>
              <a:rPr lang="en-US" dirty="0" err="1"/>
              <a:t>clDice</a:t>
            </a:r>
            <a:r>
              <a:rPr lang="en-US" dirty="0"/>
              <a:t> (connectivity) = 0.75-0.85, F1 = 0.7-0.8, Some qualitative assessment of accuracy and connectivity</a:t>
            </a:r>
          </a:p>
          <a:p>
            <a:pPr lvl="1"/>
            <a:r>
              <a:rPr lang="en-US" b="1" dirty="0"/>
              <a:t>Deliverables + Outputs</a:t>
            </a:r>
            <a:r>
              <a:rPr lang="en-US" dirty="0"/>
              <a:t>: roads shapefile, interactive </a:t>
            </a:r>
            <a:r>
              <a:rPr lang="en-US" dirty="0" err="1"/>
              <a:t>webmap</a:t>
            </a:r>
            <a:r>
              <a:rPr lang="en-US" dirty="0"/>
              <a:t> comparing OSM and predicted roads. </a:t>
            </a:r>
          </a:p>
        </p:txBody>
      </p:sp>
      <p:sp>
        <p:nvSpPr>
          <p:cNvPr id="4" name="Content Placeholder 3">
            <a:extLst>
              <a:ext uri="{FF2B5EF4-FFF2-40B4-BE49-F238E27FC236}">
                <a16:creationId xmlns:a16="http://schemas.microsoft.com/office/drawing/2014/main" id="{A6580034-B039-2E97-91CE-340C650C88D3}"/>
              </a:ext>
            </a:extLst>
          </p:cNvPr>
          <p:cNvSpPr>
            <a:spLocks noGrp="1"/>
          </p:cNvSpPr>
          <p:nvPr>
            <p:ph sz="quarter" idx="14"/>
          </p:nvPr>
        </p:nvSpPr>
        <p:spPr>
          <a:xfrm>
            <a:off x="7620000" y="2676526"/>
            <a:ext cx="3947160" cy="752474"/>
          </a:xfrm>
        </p:spPr>
        <p:txBody>
          <a:bodyPr/>
          <a:lstStyle/>
          <a:p>
            <a:r>
              <a:rPr lang="en-US" dirty="0"/>
              <a:t>80/10/10 or 70/15/15 train/test/validation split</a:t>
            </a:r>
          </a:p>
        </p:txBody>
      </p:sp>
    </p:spTree>
    <p:extLst>
      <p:ext uri="{BB962C8B-B14F-4D97-AF65-F5344CB8AC3E}">
        <p14:creationId xmlns:p14="http://schemas.microsoft.com/office/powerpoint/2010/main" val="1533009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dirty="0"/>
              <a:t>Proposed Schedule</a:t>
            </a:r>
          </a:p>
        </p:txBody>
      </p:sp>
      <p:pic>
        <p:nvPicPr>
          <p:cNvPr id="7" name="Picture 6">
            <a:extLst>
              <a:ext uri="{FF2B5EF4-FFF2-40B4-BE49-F238E27FC236}">
                <a16:creationId xmlns:a16="http://schemas.microsoft.com/office/drawing/2014/main" id="{94B2ACEA-D45B-6C31-B414-4729AADF4B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936" y="2883386"/>
            <a:ext cx="10504564" cy="1759130"/>
          </a:xfrm>
          <a:prstGeom prst="rect">
            <a:avLst/>
          </a:prstGeom>
        </p:spPr>
      </p:pic>
    </p:spTree>
    <p:extLst>
      <p:ext uri="{BB962C8B-B14F-4D97-AF65-F5344CB8AC3E}">
        <p14:creationId xmlns:p14="http://schemas.microsoft.com/office/powerpoint/2010/main" val="752428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59" y="411479"/>
            <a:ext cx="7120233" cy="3291840"/>
          </a:xfrm>
        </p:spPr>
        <p:txBody>
          <a:bodyPr/>
          <a:lstStyle/>
          <a:p>
            <a:r>
              <a:rPr lang="en-US" dirty="0"/>
              <a:t>Acknowledgements</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21FFAC0-05A2-416A-B06C-C248395482C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{A2750711-6D2A-4EB5-BC76-B018DBF02738}tf78853419_win32</Template>
  <TotalTime>2620</TotalTime>
  <Words>817</Words>
  <Application>Microsoft Office PowerPoint</Application>
  <PresentationFormat>Widescreen</PresentationFormat>
  <Paragraphs>84</Paragraphs>
  <Slides>10</Slides>
  <Notes>10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6" baseType="lpstr">
      <vt:lpstr>Arial</vt:lpstr>
      <vt:lpstr>Calibri</vt:lpstr>
      <vt:lpstr>Franklin Gothic Book</vt:lpstr>
      <vt:lpstr>Franklin Gothic Demi</vt:lpstr>
      <vt:lpstr>Custom</vt:lpstr>
      <vt:lpstr>Packager Shell Object</vt:lpstr>
      <vt:lpstr>Automated road and footpath extraction in Nakivale, Uganda</vt:lpstr>
      <vt:lpstr>Refugee Settlements in Uganda</vt:lpstr>
      <vt:lpstr>Mapping Infrastructure in Nakivale</vt:lpstr>
      <vt:lpstr>Road Detection In the Tropical Agrarian Context</vt:lpstr>
      <vt:lpstr>Deep Learning for Road Extraction</vt:lpstr>
      <vt:lpstr>Anticipated Methods (overview)</vt:lpstr>
      <vt:lpstr>Anticipated Methods (detailed)</vt:lpstr>
      <vt:lpstr>Anticipated Results</vt:lpstr>
      <vt:lpstr>Proposed Schedule</vt:lpstr>
      <vt:lpstr>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Mondschein, Zachary</dc:creator>
  <cp:lastModifiedBy>Mondschein, Zachary</cp:lastModifiedBy>
  <cp:revision>6</cp:revision>
  <dcterms:created xsi:type="dcterms:W3CDTF">2025-10-29T01:29:36Z</dcterms:created>
  <dcterms:modified xsi:type="dcterms:W3CDTF">2025-12-10T09:15:11Z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