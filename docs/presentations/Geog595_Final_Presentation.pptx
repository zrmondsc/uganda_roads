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6"/>
  </p:notesMasterIdLst>
  <p:handoutMasterIdLst>
    <p:handoutMasterId r:id="rId17"/>
  </p:handoutMasterIdLst>
  <p:sldIdLst>
    <p:sldId id="410" r:id="rId5"/>
    <p:sldId id="391" r:id="rId6"/>
    <p:sldId id="408" r:id="rId7"/>
    <p:sldId id="407" r:id="rId8"/>
    <p:sldId id="413" r:id="rId9"/>
    <p:sldId id="406" r:id="rId10"/>
    <p:sldId id="411" r:id="rId11"/>
    <p:sldId id="403" r:id="rId12"/>
    <p:sldId id="412" r:id="rId13"/>
    <p:sldId id="414" r:id="rId14"/>
    <p:sldId id="39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2069" autoAdjust="0"/>
  </p:normalViewPr>
  <p:slideViewPr>
    <p:cSldViewPr snapToGrid="0">
      <p:cViewPr varScale="1">
        <p:scale>
          <a:sx n="52" d="100"/>
          <a:sy n="52" d="100"/>
        </p:scale>
        <p:origin x="1208"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11/14/2025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11/14/2025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Refugee settlements in Uganda are unique!</a:t>
            </a:r>
          </a:p>
          <a:p>
            <a:endParaRPr lang="en-US" dirty="0"/>
          </a:p>
          <a:p>
            <a:r>
              <a:rPr lang="en-US" dirty="0"/>
              <a:t>Settlement layouts adhere to predefined UNHCR settlement planning protocols</a:t>
            </a:r>
          </a:p>
          <a:p>
            <a:endParaRPr lang="en-US" dirty="0"/>
          </a:p>
          <a:p>
            <a:r>
              <a:rPr lang="en-US" dirty="0"/>
              <a:t> The boundaries of the camp are not absolute boundaries, and structures, infrastructure and agricultural plots are commonly established alongside or beyond the boundary. </a:t>
            </a:r>
          </a:p>
          <a:p>
            <a:endParaRPr lang="en-US" dirty="0"/>
          </a:p>
          <a:p>
            <a:r>
              <a:rPr lang="en-US" dirty="0"/>
              <a:t>It is also common for refugee populations to only occupy a portion of the area demarcated by the settlement boundary</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these settlements housing so many people, many of whom who have been there for more than 5 years, our existing maps of these regions and our understanding of how they develop and change over time is lacking. This is the so-called data disparity that plague some of our least “seen” places. </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from my lab visited </a:t>
            </a:r>
            <a:r>
              <a:rPr lang="en-US" dirty="0" err="1"/>
              <a:t>Nakivale</a:t>
            </a:r>
            <a:r>
              <a:rPr lang="en-US" dirty="0"/>
              <a:t> and some other refugee settlements this summer and observed that the existing OSM data is incomplete. </a:t>
            </a:r>
          </a:p>
          <a:p>
            <a:endParaRPr lang="en-US" dirty="0"/>
          </a:p>
          <a:p>
            <a:r>
              <a:rPr lang="en-US" dirty="0"/>
              <a:t>This is of interest to our lab, because we’ve recently been launching a project aimed to better understanding the economies of these places, which is largely predicated on agriculture. Our ultimate interests are two-fold, the first is disambiguating surrounding agricultural fields that are being tending by refugees to those that belong to host country nationals. The second goal is the estimate average commute times.</a:t>
            </a:r>
          </a:p>
          <a:p>
            <a:endParaRPr lang="en-US" dirty="0"/>
          </a:p>
          <a:p>
            <a:r>
              <a:rPr lang="en-US" dirty="0"/>
              <a:t>We are planning on employing an undergraduate to begin digitize roads manually, however this process is slow and costly. We’ll have to be particularly careful about designing protocols to ensure standardization of practices.  </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Prioritize…because we care about where people are and where the fields are</a:t>
            </a:r>
          </a:p>
          <a:p>
            <a:endParaRPr lang="en-US" dirty="0"/>
          </a:p>
          <a:p>
            <a:r>
              <a:rPr lang="en-US" dirty="0"/>
              <a:t>Loss function to balances class imbalance and preserves road topology</a:t>
            </a:r>
          </a:p>
          <a:p>
            <a:endParaRPr lang="en-US" dirty="0"/>
          </a:p>
          <a:p>
            <a:r>
              <a:rPr lang="en-US" dirty="0"/>
              <a:t>BCE – pixel wise classification loss that measures predicted and observed BCE(</a:t>
            </a:r>
            <a:r>
              <a:rPr lang="en-US" dirty="0" err="1"/>
              <a:t>p,y</a:t>
            </a:r>
            <a:r>
              <a:rPr lang="en-US" dirty="0"/>
              <a:t>)=−[</a:t>
            </a:r>
            <a:r>
              <a:rPr lang="en-US" dirty="0" err="1"/>
              <a:t>ylog</a:t>
            </a:r>
            <a:r>
              <a:rPr lang="en-US" dirty="0"/>
              <a:t>(p)+(1−y)log(1−p)]</a:t>
            </a:r>
          </a:p>
          <a:p>
            <a:endParaRPr lang="en-US" dirty="0"/>
          </a:p>
          <a:p>
            <a:r>
              <a:rPr lang="en-US" dirty="0"/>
              <a:t>Dice – measure of spatial overlap between two sets, encourages smooth regions</a:t>
            </a:r>
          </a:p>
          <a:p>
            <a:endParaRPr lang="en-US" dirty="0"/>
          </a:p>
          <a:p>
            <a:r>
              <a:rPr lang="en-US" dirty="0" err="1"/>
              <a:t>clDice</a:t>
            </a:r>
            <a:r>
              <a:rPr lang="en-US" dirty="0"/>
              <a:t> – centerline dice, a topologically aware version of Dice loss. I don’t really understand this yet, lambda3 could be zero (lol)</a:t>
            </a: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A975-7A68-55DA-E21A-48FAE0C45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E2977-7DD7-2B24-8E08-184CD20FB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13CE7-AF07-E294-F894-A918FFD46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08280-C9B5-686D-3B49-69470CF2856C}"/>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4195151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51ED-F2A0-B05B-9CE3-FA17D4CF1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6E59F-87C8-9596-335F-E1E476B38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327C4-6CC7-D87E-8F4B-B118A08A7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3DC765-38F5-341F-5F63-B85380ADCAA5}"/>
              </a:ext>
            </a:extLst>
          </p:cNvPr>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1627660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4926330" y="499000"/>
            <a:ext cx="6884670" cy="2340429"/>
          </a:xfrm>
        </p:spPr>
        <p:txBody>
          <a:bodyPr/>
          <a:lstStyle/>
          <a:p>
            <a:r>
              <a:rPr lang="en-US" sz="3600" dirty="0"/>
              <a:t>Detecting Morphological Change and Permanence in Refugee Settlements</a:t>
            </a:r>
          </a:p>
        </p:txBody>
      </p:sp>
      <p:sp>
        <p:nvSpPr>
          <p:cNvPr id="3" name="Title 1">
            <a:extLst>
              <a:ext uri="{FF2B5EF4-FFF2-40B4-BE49-F238E27FC236}">
                <a16:creationId xmlns:a16="http://schemas.microsoft.com/office/drawing/2014/main" id="{69790DB8-FED2-305F-8B6F-8FAE559B837D}"/>
              </a:ext>
            </a:extLst>
          </p:cNvPr>
          <p:cNvSpPr txBox="1">
            <a:spLocks/>
          </p:cNvSpPr>
          <p:nvPr/>
        </p:nvSpPr>
        <p:spPr>
          <a:xfrm>
            <a:off x="6254750" y="3298371"/>
            <a:ext cx="5486400" cy="3291840"/>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800" dirty="0"/>
          </a:p>
        </p:txBody>
      </p:sp>
      <p:sp>
        <p:nvSpPr>
          <p:cNvPr id="5" name="Title 1">
            <a:extLst>
              <a:ext uri="{FF2B5EF4-FFF2-40B4-BE49-F238E27FC236}">
                <a16:creationId xmlns:a16="http://schemas.microsoft.com/office/drawing/2014/main" id="{C33E4780-8EFF-DF7F-23E2-9522164DFE4E}"/>
              </a:ext>
            </a:extLst>
          </p:cNvPr>
          <p:cNvSpPr txBox="1">
            <a:spLocks/>
          </p:cNvSpPr>
          <p:nvPr/>
        </p:nvSpPr>
        <p:spPr>
          <a:xfrm>
            <a:off x="4987290" y="2839429"/>
            <a:ext cx="2686050" cy="589571"/>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By Zachary Mondschein</a:t>
            </a:r>
          </a:p>
        </p:txBody>
      </p:sp>
      <p:sp>
        <p:nvSpPr>
          <p:cNvPr id="4" name="Title 1">
            <a:extLst>
              <a:ext uri="{FF2B5EF4-FFF2-40B4-BE49-F238E27FC236}">
                <a16:creationId xmlns:a16="http://schemas.microsoft.com/office/drawing/2014/main" id="{D613F2E7-B9C4-9F57-B642-8E283BF99B38}"/>
              </a:ext>
            </a:extLst>
          </p:cNvPr>
          <p:cNvSpPr txBox="1">
            <a:spLocks/>
          </p:cNvSpPr>
          <p:nvPr/>
        </p:nvSpPr>
        <p:spPr>
          <a:xfrm>
            <a:off x="137160" y="6025896"/>
            <a:ext cx="2796540" cy="749590"/>
          </a:xfrm>
          <a:prstGeom prst="rect">
            <a:avLst/>
          </a:prstGeom>
        </p:spPr>
        <p:style>
          <a:lnRef idx="2">
            <a:schemeClr val="dk1"/>
          </a:lnRef>
          <a:fillRef idx="1">
            <a:schemeClr val="lt1"/>
          </a:fillRef>
          <a:effectRef idx="0">
            <a:schemeClr val="dk1"/>
          </a:effectRef>
          <a:fontRef idx="minor">
            <a:schemeClr val="dk1"/>
          </a:fontRef>
        </p:style>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200" dirty="0">
                <a:latin typeface="+mn-lt"/>
              </a:rPr>
              <a:t>Keywords</a:t>
            </a:r>
            <a:r>
              <a:rPr lang="en-US" sz="1200" b="0" dirty="0">
                <a:latin typeface="+mn-lt"/>
              </a:rPr>
              <a:t>: ‘Refugee Settlements’, ‘Displacement’, ‘Machine Learning’, ‘Rural’, ’Urban Morphology’, ‘Change detection</a:t>
            </a:r>
            <a:r>
              <a:rPr lang="en-US" sz="1200" dirty="0">
                <a:latin typeface="+mn-lt"/>
              </a:rPr>
              <a:t>’</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Refugee Settlements in Uganda</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a:bodyPr>
          <a:lstStyle/>
          <a:p>
            <a:r>
              <a:rPr lang="en-US" dirty="0"/>
              <a:t>Uganda hosts </a:t>
            </a:r>
            <a:r>
              <a:rPr lang="en-US" b="1" dirty="0"/>
              <a:t>1.4 million refugees</a:t>
            </a:r>
          </a:p>
          <a:p>
            <a:r>
              <a:rPr lang="en-US" dirty="0"/>
              <a:t>The earliest refugee camps were settled in the 1960s</a:t>
            </a:r>
          </a:p>
          <a:p>
            <a:r>
              <a:rPr lang="en-US" dirty="0"/>
              <a:t>Refugee population increased 10x between 2012-2017</a:t>
            </a:r>
          </a:p>
          <a:p>
            <a:r>
              <a:rPr lang="en-US" dirty="0"/>
              <a:t>Refugee </a:t>
            </a:r>
            <a:r>
              <a:rPr lang="en-US" u="sng" dirty="0"/>
              <a:t>settlements</a:t>
            </a:r>
            <a:r>
              <a:rPr lang="en-US" dirty="0"/>
              <a:t> in Uganda are unique</a:t>
            </a:r>
          </a:p>
          <a:p>
            <a:endParaRPr lang="en-US" dirty="0"/>
          </a:p>
          <a:p>
            <a:endParaRPr lang="en-US" dirty="0"/>
          </a:p>
          <a:p>
            <a:endParaRPr lang="en-US" dirty="0"/>
          </a:p>
          <a:p>
            <a:pPr marL="0" indent="0">
              <a:buNone/>
            </a:pPr>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4" name="Object 3">
            <a:extLst>
              <a:ext uri="{FF2B5EF4-FFF2-40B4-BE49-F238E27FC236}">
                <a16:creationId xmlns:a16="http://schemas.microsoft.com/office/drawing/2014/main" id="{4F98C7B5-C135-092B-F6C2-EBEAFDA72010}"/>
              </a:ext>
            </a:extLst>
          </p:cNvPr>
          <p:cNvGraphicFramePr>
            <a:graphicFrameLocks noChangeAspect="1"/>
          </p:cNvGraphicFramePr>
          <p:nvPr>
            <p:extLst>
              <p:ext uri="{D42A27DB-BD31-4B8C-83A1-F6EECF244321}">
                <p14:modId xmlns:p14="http://schemas.microsoft.com/office/powerpoint/2010/main" val="1748368376"/>
              </p:ext>
            </p:extLst>
          </p:nvPr>
        </p:nvGraphicFramePr>
        <p:xfrm>
          <a:off x="8537575" y="4087813"/>
          <a:ext cx="233363" cy="196850"/>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8537575" y="4087813"/>
                        <a:ext cx="233363" cy="196850"/>
                      </a:xfrm>
                      <a:prstGeom prst="rect">
                        <a:avLst/>
                      </a:prstGeom>
                    </p:spPr>
                  </p:pic>
                </p:oleObj>
              </mc:Fallback>
            </mc:AlternateContent>
          </a:graphicData>
        </a:graphic>
      </p:graphicFrame>
    </p:spTree>
    <p:extLst>
      <p:ext uri="{BB962C8B-B14F-4D97-AF65-F5344CB8AC3E}">
        <p14:creationId xmlns:p14="http://schemas.microsoft.com/office/powerpoint/2010/main" val="320031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How do Refugee Camps Change?</a:t>
            </a:r>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a:lstStyle/>
          <a:p>
            <a:pPr marL="342900" indent="-342900">
              <a:buFont typeface="Arial" panose="020B0604020202020204" pitchFamily="34" charset="0"/>
              <a:buChar char="•"/>
            </a:pPr>
            <a:r>
              <a:rPr lang="en-US" dirty="0"/>
              <a:t>Refugee camps are generally constructed with economic considerations mind, using cheap building materials and basic design configuration (Gupta et al., n.d.).</a:t>
            </a:r>
          </a:p>
          <a:p>
            <a:pPr marL="342900" indent="-342900">
              <a:buFont typeface="Arial" panose="020B0604020202020204" pitchFamily="34" charset="0"/>
              <a:buChar char="•"/>
            </a:pPr>
            <a:r>
              <a:rPr lang="en-US" dirty="0"/>
              <a:t>The quality of ephemerality is embedded in this conception of a refugee camp; however, many refugee camps have persisted for decades, transitioning into more permanent settlements (</a:t>
            </a:r>
            <a:r>
              <a:rPr lang="en-US" dirty="0" err="1"/>
              <a:t>Alqub</a:t>
            </a:r>
            <a:r>
              <a:rPr lang="en-US" dirty="0"/>
              <a:t> &amp; Matar, 2025).</a:t>
            </a:r>
          </a:p>
        </p:txBody>
      </p:sp>
      <p:sp>
        <p:nvSpPr>
          <p:cNvPr id="8" name="Content Placeholder 2">
            <a:extLst>
              <a:ext uri="{FF2B5EF4-FFF2-40B4-BE49-F238E27FC236}">
                <a16:creationId xmlns:a16="http://schemas.microsoft.com/office/drawing/2014/main" id="{8319759E-B4DC-FF8D-C255-0A1CC0FCD26A}"/>
              </a:ext>
            </a:extLst>
          </p:cNvPr>
          <p:cNvSpPr txBox="1">
            <a:spLocks/>
          </p:cNvSpPr>
          <p:nvPr/>
        </p:nvSpPr>
        <p:spPr>
          <a:xfrm>
            <a:off x="5732673" y="2524125"/>
            <a:ext cx="4490827" cy="3597470"/>
          </a:xfrm>
          <a:prstGeom prst="rect">
            <a:avLst/>
          </a:prstGeom>
        </p:spPr>
        <p:txBody>
          <a:bodyPr vert="horz" lIns="0" tIns="45720" rIns="0" bIns="0" rtlCol="0">
            <a:normAutofit fontScale="92500" lnSpcReduction="20000"/>
          </a:bodyPr>
          <a:lstStyle>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Research Questions:</a:t>
            </a:r>
          </a:p>
          <a:p>
            <a:pPr lvl="0"/>
            <a:r>
              <a:rPr lang="en-US" dirty="0"/>
              <a:t>How do intra-settlement morphologies evolve during the initial establishment period of a refugee settlement? </a:t>
            </a:r>
          </a:p>
          <a:p>
            <a:pPr lvl="0"/>
            <a:r>
              <a:rPr lang="en-US" dirty="0"/>
              <a:t>How do settlements continue to change once they are established? </a:t>
            </a:r>
          </a:p>
          <a:p>
            <a:pPr lvl="0"/>
            <a:r>
              <a:rPr lang="en-US" dirty="0"/>
              <a:t>Can we classify a refugee settlements level of establishment using morphological and spectral signatures?</a:t>
            </a:r>
          </a:p>
          <a:p>
            <a:pPr lvl="0"/>
            <a:r>
              <a:rPr lang="en-US" dirty="0"/>
              <a:t>How do the rates and types of morphological changes differ between different parts of a refugee settlement?</a:t>
            </a:r>
          </a:p>
          <a:p>
            <a:endParaRPr lang="en-US" dirty="0"/>
          </a:p>
        </p:txBody>
      </p:sp>
    </p:spTree>
    <p:extLst>
      <p:ext uri="{BB962C8B-B14F-4D97-AF65-F5344CB8AC3E}">
        <p14:creationId xmlns:p14="http://schemas.microsoft.com/office/powerpoint/2010/main" val="88848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dirty="0"/>
              <a:t>Reconceptualizing geographies of displacement</a:t>
            </a: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594360" y="381001"/>
            <a:ext cx="5198269" cy="5749108"/>
          </a:xfrm>
        </p:spPr>
        <p:txBody>
          <a:bodyPr>
            <a:normAutofit/>
          </a:bodyPr>
          <a:lstStyle/>
          <a:p>
            <a:r>
              <a:rPr lang="en-US" i="1" dirty="0"/>
              <a:t>Why should we care??</a:t>
            </a:r>
          </a:p>
          <a:p>
            <a:pPr lvl="1"/>
            <a:r>
              <a:rPr lang="en-US" dirty="0"/>
              <a:t>Supports humanitarian planning and hazard mitigation</a:t>
            </a:r>
          </a:p>
          <a:p>
            <a:pPr lvl="1"/>
            <a:r>
              <a:rPr lang="en-US" dirty="0"/>
              <a:t>Contribute to representational equity in geospatial data (closing data gaps)</a:t>
            </a:r>
          </a:p>
          <a:p>
            <a:pPr lvl="1"/>
            <a:r>
              <a:rPr lang="en-US" dirty="0"/>
              <a:t>There is a technical motivation as well! There have been few attempts to do these kinds of projects in rural agrarian settings. </a:t>
            </a:r>
          </a:p>
        </p:txBody>
      </p:sp>
      <p:graphicFrame>
        <p:nvGraphicFramePr>
          <p:cNvPr id="5" name="Object 4">
            <a:extLst>
              <a:ext uri="{FF2B5EF4-FFF2-40B4-BE49-F238E27FC236}">
                <a16:creationId xmlns:a16="http://schemas.microsoft.com/office/drawing/2014/main" id="{D45BD780-49CC-8D4E-470A-18793A443644}"/>
              </a:ext>
            </a:extLst>
          </p:cNvPr>
          <p:cNvGraphicFramePr>
            <a:graphicFrameLocks noChangeAspect="1"/>
          </p:cNvGraphicFramePr>
          <p:nvPr>
            <p:extLst>
              <p:ext uri="{D42A27DB-BD31-4B8C-83A1-F6EECF244321}">
                <p14:modId xmlns:p14="http://schemas.microsoft.com/office/powerpoint/2010/main" val="392419934"/>
              </p:ext>
            </p:extLst>
          </p:nvPr>
        </p:nvGraphicFramePr>
        <p:xfrm>
          <a:off x="2346325" y="4771072"/>
          <a:ext cx="1174750" cy="993775"/>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5" name="Object 4">
                        <a:extLst>
                          <a:ext uri="{FF2B5EF4-FFF2-40B4-BE49-F238E27FC236}">
                            <a16:creationId xmlns:a16="http://schemas.microsoft.com/office/drawing/2014/main" id="{D45BD780-49CC-8D4E-470A-18793A443644}"/>
                          </a:ext>
                        </a:extLst>
                      </p:cNvPr>
                      <p:cNvPicPr/>
                      <p:nvPr/>
                    </p:nvPicPr>
                    <p:blipFill>
                      <a:blip r:embed="rId4"/>
                      <a:stretch>
                        <a:fillRect/>
                      </a:stretch>
                    </p:blipFill>
                    <p:spPr>
                      <a:xfrm>
                        <a:off x="2346325" y="4771072"/>
                        <a:ext cx="1174750" cy="993775"/>
                      </a:xfrm>
                      <a:prstGeom prst="rect">
                        <a:avLst/>
                      </a:prstGeom>
                    </p:spPr>
                  </p:pic>
                </p:oleObj>
              </mc:Fallback>
            </mc:AlternateContent>
          </a:graphicData>
        </a:graphic>
      </p:graphicFrame>
    </p:spTree>
    <p:extLst>
      <p:ext uri="{BB962C8B-B14F-4D97-AF65-F5344CB8AC3E}">
        <p14:creationId xmlns:p14="http://schemas.microsoft.com/office/powerpoint/2010/main" val="308822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3C61-4201-18BE-1A53-61997E0B53FF}"/>
              </a:ext>
            </a:extLst>
          </p:cNvPr>
          <p:cNvSpPr>
            <a:spLocks noGrp="1"/>
          </p:cNvSpPr>
          <p:nvPr>
            <p:ph type="title"/>
          </p:nvPr>
        </p:nvSpPr>
        <p:spPr/>
        <p:txBody>
          <a:bodyPr/>
          <a:lstStyle/>
          <a:p>
            <a:r>
              <a:rPr lang="en-US" dirty="0"/>
              <a:t>Study Site</a:t>
            </a:r>
          </a:p>
        </p:txBody>
      </p:sp>
      <p:grpSp>
        <p:nvGrpSpPr>
          <p:cNvPr id="25" name="Group 24">
            <a:extLst>
              <a:ext uri="{FF2B5EF4-FFF2-40B4-BE49-F238E27FC236}">
                <a16:creationId xmlns:a16="http://schemas.microsoft.com/office/drawing/2014/main" id="{A5A4D688-C17B-8C75-55AA-ECFF48ECBE9D}"/>
              </a:ext>
            </a:extLst>
          </p:cNvPr>
          <p:cNvGrpSpPr/>
          <p:nvPr/>
        </p:nvGrpSpPr>
        <p:grpSpPr>
          <a:xfrm>
            <a:off x="3455346" y="1842516"/>
            <a:ext cx="5033144" cy="4476749"/>
            <a:chOff x="2010594" y="1943100"/>
            <a:chExt cx="5033144" cy="4476749"/>
          </a:xfrm>
        </p:grpSpPr>
        <p:pic>
          <p:nvPicPr>
            <p:cNvPr id="6" name="Picture 5" descr="A map of the state of kenya&#10;&#10;AI-generated content may be incorrect.">
              <a:extLst>
                <a:ext uri="{FF2B5EF4-FFF2-40B4-BE49-F238E27FC236}">
                  <a16:creationId xmlns:a16="http://schemas.microsoft.com/office/drawing/2014/main" id="{A8B5ACE2-085D-2ACC-DE7D-FDE8FF8D4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5434" y="1943100"/>
              <a:ext cx="1729698" cy="2281237"/>
            </a:xfrm>
            <a:prstGeom prst="rect">
              <a:avLst/>
            </a:prstGeom>
          </p:spPr>
        </p:pic>
        <p:pic>
          <p:nvPicPr>
            <p:cNvPr id="8" name="Picture 7" descr="A blue outline of a country&#10;&#10;AI-generated content may be incorrect.">
              <a:extLst>
                <a:ext uri="{FF2B5EF4-FFF2-40B4-BE49-F238E27FC236}">
                  <a16:creationId xmlns:a16="http://schemas.microsoft.com/office/drawing/2014/main" id="{37D06122-6428-24FA-7D59-1C22674604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4327" y="4280910"/>
              <a:ext cx="2359411" cy="1794945"/>
            </a:xfrm>
            <a:prstGeom prst="rect">
              <a:avLst/>
            </a:prstGeom>
          </p:spPr>
        </p:pic>
        <p:pic>
          <p:nvPicPr>
            <p:cNvPr id="10" name="Picture 9" descr="A map of different cities&#10;&#10;AI-generated content may be incorrect.">
              <a:extLst>
                <a:ext uri="{FF2B5EF4-FFF2-40B4-BE49-F238E27FC236}">
                  <a16:creationId xmlns:a16="http://schemas.microsoft.com/office/drawing/2014/main" id="{7700F285-5C36-E78B-49E7-8C893AE0AF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0594" y="2190749"/>
              <a:ext cx="2561406" cy="4229100"/>
            </a:xfrm>
            <a:prstGeom prst="rect">
              <a:avLst/>
            </a:prstGeom>
          </p:spPr>
        </p:pic>
        <p:cxnSp>
          <p:nvCxnSpPr>
            <p:cNvPr id="12" name="Straight Connector 11">
              <a:extLst>
                <a:ext uri="{FF2B5EF4-FFF2-40B4-BE49-F238E27FC236}">
                  <a16:creationId xmlns:a16="http://schemas.microsoft.com/office/drawing/2014/main" id="{6CE041FC-2805-363F-C7BD-D84D42964983}"/>
                </a:ext>
              </a:extLst>
            </p:cNvPr>
            <p:cNvCxnSpPr>
              <a:cxnSpLocks/>
            </p:cNvCxnSpPr>
            <p:nvPr/>
          </p:nvCxnSpPr>
          <p:spPr>
            <a:xfrm flipV="1">
              <a:off x="3064669" y="2071688"/>
              <a:ext cx="1971675" cy="707231"/>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CB1F9801-F39F-C18D-02A2-9138AB44B8BD}"/>
                </a:ext>
              </a:extLst>
            </p:cNvPr>
            <p:cNvCxnSpPr>
              <a:cxnSpLocks/>
            </p:cNvCxnSpPr>
            <p:nvPr/>
          </p:nvCxnSpPr>
          <p:spPr>
            <a:xfrm>
              <a:off x="3064669" y="3077882"/>
              <a:ext cx="1920765" cy="1086924"/>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514B02E4-81B8-FC5E-BED2-D644C34E314B}"/>
                </a:ext>
              </a:extLst>
            </p:cNvPr>
            <p:cNvCxnSpPr/>
            <p:nvPr/>
          </p:nvCxnSpPr>
          <p:spPr>
            <a:xfrm flipV="1">
              <a:off x="3064669" y="2071688"/>
              <a:ext cx="1985962" cy="707231"/>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6C7055E5-E6D1-A5DA-BBF9-7A1A3E60CCE5}"/>
                </a:ext>
              </a:extLst>
            </p:cNvPr>
            <p:cNvCxnSpPr>
              <a:cxnSpLocks/>
            </p:cNvCxnSpPr>
            <p:nvPr/>
          </p:nvCxnSpPr>
          <p:spPr>
            <a:xfrm flipV="1">
              <a:off x="2793206" y="6022181"/>
              <a:ext cx="1891121" cy="53674"/>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CD05D76-3168-6F03-A260-78C81552E29B}"/>
                </a:ext>
              </a:extLst>
            </p:cNvPr>
            <p:cNvCxnSpPr>
              <a:cxnSpLocks/>
            </p:cNvCxnSpPr>
            <p:nvPr/>
          </p:nvCxnSpPr>
          <p:spPr>
            <a:xfrm flipV="1">
              <a:off x="2793206" y="4446437"/>
              <a:ext cx="1891121" cy="1409056"/>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01439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a:lstStyle/>
          <a:p>
            <a:r>
              <a:rPr lang="en-US" dirty="0"/>
              <a:t>Anticipated Methods (overview)</a:t>
            </a:r>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a:normAutofit fontScale="62500" lnSpcReduction="20000"/>
          </a:bodyPr>
          <a:lstStyle/>
          <a:p>
            <a:pPr marL="342900" indent="-342900">
              <a:buFont typeface="Arial" panose="020B0604020202020204" pitchFamily="34" charset="0"/>
              <a:buChar char="•"/>
            </a:pPr>
            <a:r>
              <a:rPr lang="en-US" dirty="0"/>
              <a:t>Fine-tune a </a:t>
            </a:r>
            <a:r>
              <a:rPr lang="en-US" b="1" dirty="0"/>
              <a:t>pretrained U-Net (ResNet-34 encoder)</a:t>
            </a:r>
            <a:r>
              <a:rPr lang="en-US" dirty="0"/>
              <a:t> on 50 cm Maxar imagery. </a:t>
            </a:r>
          </a:p>
          <a:p>
            <a:pPr marL="342900" indent="-342900">
              <a:buFont typeface="Arial" panose="020B0604020202020204" pitchFamily="34" charset="0"/>
              <a:buChar char="•"/>
            </a:pPr>
            <a:r>
              <a:rPr lang="en-US" dirty="0"/>
              <a:t>Combine </a:t>
            </a:r>
            <a:r>
              <a:rPr lang="en-US" b="1" dirty="0"/>
              <a:t>OSM building footprints</a:t>
            </a:r>
            <a:r>
              <a:rPr lang="en-US" dirty="0"/>
              <a:t> with manual annotations of building footprints.</a:t>
            </a:r>
          </a:p>
          <a:p>
            <a:pPr marL="342900" indent="-342900">
              <a:buFont typeface="Arial" panose="020B0604020202020204" pitchFamily="34" charset="0"/>
              <a:buChar char="•"/>
            </a:pPr>
            <a:r>
              <a:rPr lang="en-US" dirty="0"/>
              <a:t>Apply model to multi-temporal imagery to produce annual building footprint maps</a:t>
            </a:r>
          </a:p>
          <a:p>
            <a:pPr marL="342900" indent="-342900">
              <a:buFont typeface="Arial" panose="020B0604020202020204" pitchFamily="34" charset="0"/>
              <a:buChar char="•"/>
            </a:pPr>
            <a:r>
              <a:rPr lang="en-US" dirty="0"/>
              <a:t>Post processing to vectorize the segmented image based on sensitivity threshold to ensure sound topology.</a:t>
            </a:r>
          </a:p>
          <a:p>
            <a:pPr marL="342900" indent="-342900">
              <a:buFont typeface="Arial" panose="020B0604020202020204" pitchFamily="34" charset="0"/>
              <a:buChar char="•"/>
            </a:pPr>
            <a:r>
              <a:rPr lang="en-US" dirty="0"/>
              <a:t>Match building footprint instances across years, perform object-based (vector based) change detection</a:t>
            </a:r>
          </a:p>
          <a:p>
            <a:pPr marL="342900" indent="-342900">
              <a:buFont typeface="Arial" panose="020B0604020202020204" pitchFamily="34" charset="0"/>
              <a:buChar char="•"/>
            </a:pPr>
            <a:r>
              <a:rPr lang="en-US" dirty="0"/>
              <a:t>Compare the changes observed within and across settlements.</a:t>
            </a:r>
          </a:p>
        </p:txBody>
      </p:sp>
      <p:sp>
        <p:nvSpPr>
          <p:cNvPr id="6" name="Picture Placeholder 5">
            <a:extLst>
              <a:ext uri="{FF2B5EF4-FFF2-40B4-BE49-F238E27FC236}">
                <a16:creationId xmlns:a16="http://schemas.microsoft.com/office/drawing/2014/main" id="{87C29438-5C4C-B561-B096-E9D447712810}"/>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29836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18E3-FAB8-9EC6-C9F2-8C16D2803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1BE00-EC94-781D-5A54-BD047A64C993}"/>
              </a:ext>
            </a:extLst>
          </p:cNvPr>
          <p:cNvSpPr>
            <a:spLocks noGrp="1"/>
          </p:cNvSpPr>
          <p:nvPr>
            <p:ph type="title"/>
          </p:nvPr>
        </p:nvSpPr>
        <p:spPr>
          <a:xfrm>
            <a:off x="594360" y="198408"/>
            <a:ext cx="10972800" cy="1574317"/>
          </a:xfrm>
        </p:spPr>
        <p:txBody>
          <a:bodyPr/>
          <a:lstStyle/>
          <a:p>
            <a:r>
              <a:rPr lang="en-US" dirty="0"/>
              <a:t>Anticipated Results</a:t>
            </a:r>
          </a:p>
        </p:txBody>
      </p:sp>
      <p:sp>
        <p:nvSpPr>
          <p:cNvPr id="3" name="Content Placeholder 2">
            <a:extLst>
              <a:ext uri="{FF2B5EF4-FFF2-40B4-BE49-F238E27FC236}">
                <a16:creationId xmlns:a16="http://schemas.microsoft.com/office/drawing/2014/main" id="{BF0E1AF6-325D-D05E-E067-0FF8AB925801}"/>
              </a:ext>
            </a:extLst>
          </p:cNvPr>
          <p:cNvSpPr>
            <a:spLocks noGrp="1"/>
          </p:cNvSpPr>
          <p:nvPr>
            <p:ph sz="quarter" idx="13"/>
          </p:nvPr>
        </p:nvSpPr>
        <p:spPr>
          <a:xfrm>
            <a:off x="576823" y="2466319"/>
            <a:ext cx="5746750" cy="3597470"/>
          </a:xfrm>
        </p:spPr>
        <p:txBody>
          <a:bodyPr>
            <a:normAutofit/>
          </a:bodyPr>
          <a:lstStyle/>
          <a:p>
            <a:pPr lvl="1"/>
            <a:endParaRPr lang="en-US" dirty="0"/>
          </a:p>
          <a:p>
            <a:pPr lvl="1"/>
            <a:r>
              <a:rPr lang="en-US" dirty="0"/>
              <a:t>Yearly building footprint dataset for </a:t>
            </a:r>
            <a:r>
              <a:rPr lang="en-US" dirty="0" err="1"/>
              <a:t>Nakivale</a:t>
            </a:r>
            <a:r>
              <a:rPr lang="en-US" dirty="0"/>
              <a:t> and Bidi </a:t>
            </a:r>
            <a:r>
              <a:rPr lang="en-US" dirty="0" err="1"/>
              <a:t>Bidi</a:t>
            </a:r>
            <a:r>
              <a:rPr lang="en-US" dirty="0"/>
              <a:t> refugee settlements (shapefiles)</a:t>
            </a:r>
          </a:p>
          <a:p>
            <a:pPr lvl="1"/>
            <a:r>
              <a:rPr lang="en-US" dirty="0"/>
              <a:t>F1 = 0.8-0.9, Some qualitative assessment of accuracy and connectivity</a:t>
            </a:r>
          </a:p>
          <a:p>
            <a:pPr lvl="1"/>
            <a:r>
              <a:rPr lang="en-US" dirty="0"/>
              <a:t>Annual spatial metrics for refugee settlement built up areas</a:t>
            </a:r>
          </a:p>
          <a:p>
            <a:pPr lvl="1"/>
            <a:r>
              <a:rPr lang="en-US" dirty="0"/>
              <a:t>Vector-based change detection maps</a:t>
            </a:r>
          </a:p>
        </p:txBody>
      </p:sp>
    </p:spTree>
    <p:extLst>
      <p:ext uri="{BB962C8B-B14F-4D97-AF65-F5344CB8AC3E}">
        <p14:creationId xmlns:p14="http://schemas.microsoft.com/office/powerpoint/2010/main" val="1533009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Proposed Schedule</a:t>
            </a:r>
          </a:p>
        </p:txBody>
      </p:sp>
      <p:graphicFrame>
        <p:nvGraphicFramePr>
          <p:cNvPr id="5" name="Object 4">
            <a:extLst>
              <a:ext uri="{FF2B5EF4-FFF2-40B4-BE49-F238E27FC236}">
                <a16:creationId xmlns:a16="http://schemas.microsoft.com/office/drawing/2014/main" id="{67582F72-8377-86CD-0431-CDD4BDB1F4CF}"/>
              </a:ext>
            </a:extLst>
          </p:cNvPr>
          <p:cNvGraphicFramePr>
            <a:graphicFrameLocks noChangeAspect="1"/>
          </p:cNvGraphicFramePr>
          <p:nvPr>
            <p:extLst>
              <p:ext uri="{D42A27DB-BD31-4B8C-83A1-F6EECF244321}">
                <p14:modId xmlns:p14="http://schemas.microsoft.com/office/powerpoint/2010/main" val="2967553399"/>
              </p:ext>
            </p:extLst>
          </p:nvPr>
        </p:nvGraphicFramePr>
        <p:xfrm>
          <a:off x="2933700" y="2028131"/>
          <a:ext cx="5794320" cy="4245864"/>
        </p:xfrm>
        <a:graphic>
          <a:graphicData uri="http://schemas.openxmlformats.org/presentationml/2006/ole">
            <mc:AlternateContent xmlns:mc="http://schemas.openxmlformats.org/markup-compatibility/2006">
              <mc:Choice xmlns:v="urn:schemas-microsoft-com:vml" Requires="v">
                <p:oleObj name="Document" r:id="rId3" imgW="5940848" imgH="4352872" progId="Word.Document.12">
                  <p:embed/>
                </p:oleObj>
              </mc:Choice>
              <mc:Fallback>
                <p:oleObj name="Document" r:id="rId3" imgW="5940848" imgH="4352872" progId="Word.Document.12">
                  <p:embed/>
                  <p:pic>
                    <p:nvPicPr>
                      <p:cNvPr id="0" name=""/>
                      <p:cNvPicPr/>
                      <p:nvPr/>
                    </p:nvPicPr>
                    <p:blipFill>
                      <a:blip r:embed="rId4"/>
                      <a:stretch>
                        <a:fillRect/>
                      </a:stretch>
                    </p:blipFill>
                    <p:spPr>
                      <a:xfrm>
                        <a:off x="2933700" y="2028131"/>
                        <a:ext cx="5794320" cy="4245864"/>
                      </a:xfrm>
                      <a:prstGeom prst="rect">
                        <a:avLst/>
                      </a:prstGeom>
                    </p:spPr>
                  </p:pic>
                </p:oleObj>
              </mc:Fallback>
            </mc:AlternateContent>
          </a:graphicData>
        </a:graphic>
      </p:graphicFrame>
    </p:spTree>
    <p:extLst>
      <p:ext uri="{BB962C8B-B14F-4D97-AF65-F5344CB8AC3E}">
        <p14:creationId xmlns:p14="http://schemas.microsoft.com/office/powerpoint/2010/main" val="75242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E068-07C5-60AF-DA10-51B1982225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1BD7C4-F141-2B7B-DAB9-7532D6E39F7A}"/>
              </a:ext>
            </a:extLst>
          </p:cNvPr>
          <p:cNvSpPr>
            <a:spLocks noGrp="1"/>
          </p:cNvSpPr>
          <p:nvPr>
            <p:ph type="title"/>
          </p:nvPr>
        </p:nvSpPr>
        <p:spPr>
          <a:xfrm>
            <a:off x="594360" y="584005"/>
            <a:ext cx="10972800" cy="1188720"/>
          </a:xfrm>
        </p:spPr>
        <p:txBody>
          <a:bodyPr/>
          <a:lstStyle/>
          <a:p>
            <a:r>
              <a:rPr lang="en-US" dirty="0"/>
              <a:t>Proposed Budget</a:t>
            </a:r>
          </a:p>
        </p:txBody>
      </p:sp>
      <p:pic>
        <p:nvPicPr>
          <p:cNvPr id="2" name="Picture 1">
            <a:extLst>
              <a:ext uri="{FF2B5EF4-FFF2-40B4-BE49-F238E27FC236}">
                <a16:creationId xmlns:a16="http://schemas.microsoft.com/office/drawing/2014/main" id="{AD4F5BB6-4742-9725-0E8D-B51B2A06BAF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50313" y="827214"/>
            <a:ext cx="2817387" cy="5203571"/>
          </a:xfrm>
          <a:prstGeom prst="rect">
            <a:avLst/>
          </a:prstGeom>
          <a:noFill/>
          <a:ln>
            <a:noFill/>
          </a:ln>
        </p:spPr>
      </p:pic>
    </p:spTree>
    <p:extLst>
      <p:ext uri="{BB962C8B-B14F-4D97-AF65-F5344CB8AC3E}">
        <p14:creationId xmlns:p14="http://schemas.microsoft.com/office/powerpoint/2010/main" val="151982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2A04A-FACA-5F2A-B069-78793731E1C3}"/>
              </a:ext>
            </a:extLst>
          </p:cNvPr>
          <p:cNvSpPr>
            <a:spLocks noGrp="1"/>
          </p:cNvSpPr>
          <p:nvPr>
            <p:ph type="title"/>
          </p:nvPr>
        </p:nvSpPr>
        <p:spPr/>
        <p:txBody>
          <a:bodyPr/>
          <a:lstStyle/>
          <a:p>
            <a:r>
              <a:rPr lang="en-US" dirty="0"/>
              <a:t>Funding Sources</a:t>
            </a:r>
          </a:p>
        </p:txBody>
      </p:sp>
      <p:sp>
        <p:nvSpPr>
          <p:cNvPr id="6" name="Content Placeholder 5">
            <a:extLst>
              <a:ext uri="{FF2B5EF4-FFF2-40B4-BE49-F238E27FC236}">
                <a16:creationId xmlns:a16="http://schemas.microsoft.com/office/drawing/2014/main" id="{66C4E0DC-33C2-4FCE-C7F8-1AA549F90ACB}"/>
              </a:ext>
            </a:extLst>
          </p:cNvPr>
          <p:cNvSpPr>
            <a:spLocks noGrp="1"/>
          </p:cNvSpPr>
          <p:nvPr>
            <p:ph sz="quarter" idx="15"/>
          </p:nvPr>
        </p:nvSpPr>
        <p:spPr/>
        <p:txBody>
          <a:bodyPr>
            <a:normAutofit fontScale="92500" lnSpcReduction="20000"/>
          </a:bodyPr>
          <a:lstStyle/>
          <a:p>
            <a:pPr marL="0" lvl="1" indent="0">
              <a:buNone/>
            </a:pPr>
            <a:r>
              <a:rPr lang="en-US" b="1" dirty="0"/>
              <a:t>LC/LUC, Research Opportunities in Space and Earth Sciences (ROSES)</a:t>
            </a:r>
          </a:p>
          <a:p>
            <a:pPr marL="0" lvl="1" indent="0">
              <a:buNone/>
            </a:pPr>
            <a:r>
              <a:rPr lang="en-US" b="1" dirty="0"/>
              <a:t>Agency: </a:t>
            </a:r>
            <a:r>
              <a:rPr lang="en-US" dirty="0"/>
              <a:t>NASA – National Aeronautics and Space Administration</a:t>
            </a:r>
          </a:p>
          <a:p>
            <a:pPr marL="0" lvl="1" indent="0">
              <a:buNone/>
            </a:pPr>
            <a:r>
              <a:rPr lang="en-US" b="1" dirty="0"/>
              <a:t>Description: </a:t>
            </a:r>
            <a:r>
              <a:rPr lang="en-US" dirty="0"/>
              <a:t>The Land Cover/Land Use Change (LCLUC) Program advances earth science by funding projects that use satellite data to understand how land cover and use change over time. Projects map change and investigate how changes affect human, natural and climatic systems. LCLUC is a </a:t>
            </a:r>
            <a:r>
              <a:rPr lang="en-US" dirty="0" err="1"/>
              <a:t>subcall</a:t>
            </a:r>
            <a:r>
              <a:rPr lang="en-US" dirty="0"/>
              <a:t> of ROSES, the Research Opportunities in Space and Earth Sciences, NASA’s omnibus funding call. </a:t>
            </a:r>
          </a:p>
          <a:p>
            <a:endParaRPr lang="en-US" dirty="0"/>
          </a:p>
        </p:txBody>
      </p:sp>
      <p:sp>
        <p:nvSpPr>
          <p:cNvPr id="7" name="Content Placeholder 6">
            <a:extLst>
              <a:ext uri="{FF2B5EF4-FFF2-40B4-BE49-F238E27FC236}">
                <a16:creationId xmlns:a16="http://schemas.microsoft.com/office/drawing/2014/main" id="{1CEFC995-E97E-2CDF-E65C-29C70E95EC49}"/>
              </a:ext>
            </a:extLst>
          </p:cNvPr>
          <p:cNvSpPr>
            <a:spLocks noGrp="1"/>
          </p:cNvSpPr>
          <p:nvPr>
            <p:ph sz="quarter" idx="16"/>
          </p:nvPr>
        </p:nvSpPr>
        <p:spPr/>
        <p:txBody>
          <a:bodyPr>
            <a:normAutofit fontScale="92500"/>
          </a:bodyPr>
          <a:lstStyle/>
          <a:p>
            <a:pPr marL="0" lvl="1" indent="0">
              <a:buNone/>
            </a:pPr>
            <a:r>
              <a:rPr lang="en-US" b="1" dirty="0"/>
              <a:t>Confronting Hazards, Impacts, and Risks for a Resilient Planet (CHIRRP)</a:t>
            </a:r>
          </a:p>
          <a:p>
            <a:pPr marL="0" lvl="1" indent="0">
              <a:buNone/>
            </a:pPr>
            <a:r>
              <a:rPr lang="en-US" b="1" dirty="0"/>
              <a:t>Agency: National Science Foundation (NSF)</a:t>
            </a:r>
            <a:endParaRPr lang="en-US" dirty="0"/>
          </a:p>
          <a:p>
            <a:r>
              <a:rPr lang="en-US" b="1" dirty="0"/>
              <a:t>Description: </a:t>
            </a:r>
            <a:r>
              <a:rPr lang="en-US" dirty="0"/>
              <a:t>CHIRRP funds research focused on understanding and forecasting hazards and developing strategies that strengthen community resilience. CHIRRP projects engage community partners, and support the development of Earth System Science approaches that advance knowledge of hazards impact and risk.</a:t>
            </a:r>
            <a:r>
              <a:rPr lang="en-US" b="1" dirty="0"/>
              <a:t> </a:t>
            </a:r>
            <a:endParaRPr lang="en-US" dirty="0"/>
          </a:p>
        </p:txBody>
      </p:sp>
    </p:spTree>
    <p:extLst>
      <p:ext uri="{BB962C8B-B14F-4D97-AF65-F5344CB8AC3E}">
        <p14:creationId xmlns:p14="http://schemas.microsoft.com/office/powerpoint/2010/main" val="4014155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59" y="411479"/>
            <a:ext cx="7120233" cy="3291840"/>
          </a:xfrm>
        </p:spPr>
        <p:txBody>
          <a:bodyPr/>
          <a:lstStyle/>
          <a:p>
            <a:r>
              <a:rPr lang="en-US" dirty="0"/>
              <a:t>Acknowledgements</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{A2750711-6D2A-4EB5-BC76-B018DBF02738}tf78853419_win32</Template>
  <TotalTime>10254</TotalTime>
  <Words>890</Words>
  <Application>Microsoft Office PowerPoint</Application>
  <PresentationFormat>Widescreen</PresentationFormat>
  <Paragraphs>81</Paragraphs>
  <Slides>11</Slides>
  <Notes>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11</vt:i4>
      </vt:variant>
    </vt:vector>
  </HeadingPairs>
  <TitlesOfParts>
    <vt:vector size="19" baseType="lpstr">
      <vt:lpstr>Arial</vt:lpstr>
      <vt:lpstr>Calibri</vt:lpstr>
      <vt:lpstr>Franklin Gothic Book</vt:lpstr>
      <vt:lpstr>Franklin Gothic Demi</vt:lpstr>
      <vt:lpstr>Custom</vt:lpstr>
      <vt:lpstr>Package</vt:lpstr>
      <vt:lpstr>Packager Shell Object</vt:lpstr>
      <vt:lpstr>Document</vt:lpstr>
      <vt:lpstr>Detecting Morphological Change and Permanence in Refugee Settlements</vt:lpstr>
      <vt:lpstr>Refugee Settlements in Uganda</vt:lpstr>
      <vt:lpstr>How do Refugee Camps Change?</vt:lpstr>
      <vt:lpstr>Reconceptualizing geographies of displacement</vt:lpstr>
      <vt:lpstr>Study Site</vt:lpstr>
      <vt:lpstr>Anticipated Methods (overview)</vt:lpstr>
      <vt:lpstr>Anticipated Results</vt:lpstr>
      <vt:lpstr>Proposed Schedule</vt:lpstr>
      <vt:lpstr>Proposed Budget</vt:lpstr>
      <vt:lpstr>Funding Sources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Mondschein, Zachary</dc:creator>
  <cp:lastModifiedBy>Mondschein, Zachary</cp:lastModifiedBy>
  <cp:revision>14</cp:revision>
  <dcterms:created xsi:type="dcterms:W3CDTF">2025-10-29T01:29:36Z</dcterms:created>
  <dcterms:modified xsi:type="dcterms:W3CDTF">2025-11-19T07:43:23Z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